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7875" cy="9143850"/>
  <p:defaultTextStyle>
    <a:defPPr lvl="0">
      <a:defRPr lang="zh-CN"/>
    </a:defPPr>
    <a:lvl1pPr defTabSz="914400" eaLnBrk="1" hangingPunct="1" indent="0" latinLnBrk="0" lvl="0" marL="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defTabSz="914400" eaLnBrk="1" hangingPunct="1" indent="0" latinLnBrk="0" lvl="1" marL="45720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defTabSz="914400" eaLnBrk="1" hangingPunct="1" indent="0" latinLnBrk="0" lvl="2" marL="91440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defTabSz="914400" eaLnBrk="1" hangingPunct="1" indent="0" latinLnBrk="0" lvl="3" marL="137160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defTabSz="914400" eaLnBrk="1" hangingPunct="1" indent="0" latinLnBrk="0" lvl="4" marL="182880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defTabSz="914400" eaLnBrk="1" hangingPunct="1" indent="0" latinLnBrk="0" lvl="5" marL="228600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defTabSz="914400" eaLnBrk="1" hangingPunct="1" indent="0" latinLnBrk="0" lvl="6" marL="274320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defTabSz="914400" eaLnBrk="1" hangingPunct="1" indent="0" latinLnBrk="0" lvl="7" marL="320040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defTabSz="914400" eaLnBrk="1" hangingPunct="1" indent="0" latinLnBrk="0" lvl="8" marL="3200400" algn="l" fontAlgn="auto">
      <a:buNone/>
      <a:defRPr kern="1200" sz="18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6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11" Type="http://schemas.openxmlformats.org/officeDocument/2006/relationships/slide" Target="slides/slide7.xml"/><Relationship Id="rId33" Type="http://schemas.openxmlformats.org/officeDocument/2006/relationships/slide" Target="slides/slide30.xml"/><Relationship Id="rId10" Type="http://schemas.openxmlformats.org/officeDocument/2006/relationships/slide" Target="slides/slide6.xml"/><Relationship Id="rId32" Type="http://schemas.openxmlformats.org/officeDocument/2006/relationships/slide" Target="slides/slide29.xml"/><Relationship Id="rId13" Type="http://schemas.openxmlformats.org/officeDocument/2006/relationships/slide" Target="slides/slide9.xml"/><Relationship Id="rId35" Type="http://schemas.openxmlformats.org/officeDocument/2006/relationships/slide" Target="slides/slide32.xml"/><Relationship Id="rId12" Type="http://schemas.openxmlformats.org/officeDocument/2006/relationships/slide" Target="slides/slide8.xml"/><Relationship Id="rId34" Type="http://schemas.openxmlformats.org/officeDocument/2006/relationships/slide" Target="slides/slide31.xml"/><Relationship Id="rId15" Type="http://schemas.openxmlformats.org/officeDocument/2006/relationships/slide" Target="slides/slide11.xml"/><Relationship Id="rId37" Type="http://schemas.openxmlformats.org/officeDocument/2006/relationships/slide" Target="slides/slide34.xml"/><Relationship Id="rId14" Type="http://schemas.openxmlformats.org/officeDocument/2006/relationships/slide" Target="slides/slide10.xml"/><Relationship Id="rId36" Type="http://schemas.openxmlformats.org/officeDocument/2006/relationships/slide" Target="slides/slide33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slide" Target="slides/slide35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" name="Cuadro de texto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Cuadro de texto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8/25/2026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Objeto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" name="Cuadro de texto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Cuadro de texto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76121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1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718566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9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0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946798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2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83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059841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9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00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364951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5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6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7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618376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1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2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43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375806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2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3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54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312379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6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7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970382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6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7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08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557100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9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0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31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205024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2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3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64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59965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9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80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81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921955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9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20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21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2868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7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48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49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721775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0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61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62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853660"/>
      </p:ext>
    </p:extLst>
  </p:cSld>
  <p:clrMapOvr>
    <a:masterClrMapping/>
  </p:clrMapOvr>
</p:notes>
</file>

<file path=ppt/notesSlides/notesSlide1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2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93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94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495441"/>
      </p:ext>
    </p:extLst>
  </p:cSld>
  <p:clrMapOvr>
    <a:masterClrMapping/>
  </p:clrMapOvr>
</p:notes>
</file>

<file path=ppt/notesSlides/notesSlide1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3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14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15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395459"/>
      </p:ext>
    </p:extLst>
  </p:cSld>
  <p:clrMapOvr>
    <a:masterClrMapping/>
  </p:clrMapOvr>
</p:notes>
</file>

<file path=ppt/notesSlides/notesSlide1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9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40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41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956355"/>
      </p:ext>
    </p:extLst>
  </p:cSld>
  <p:clrMapOvr>
    <a:masterClrMapping/>
  </p:clrMapOvr>
</p:notes>
</file>

<file path=ppt/notesSlides/notesSlide1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0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71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72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161581"/>
      </p:ext>
    </p:extLst>
  </p:cSld>
  <p:clrMapOvr>
    <a:masterClrMapping/>
  </p:clrMapOvr>
</p:notes>
</file>

<file path=ppt/notesSlides/notesSlide2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7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98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99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539001"/>
      </p:ext>
    </p:extLst>
  </p:cSld>
  <p:clrMapOvr>
    <a:masterClrMapping/>
  </p:clrMapOvr>
</p:notes>
</file>

<file path=ppt/notesSlides/notesSlide2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7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38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39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475337"/>
      </p:ext>
    </p:extLst>
  </p:cSld>
  <p:clrMapOvr>
    <a:masterClrMapping/>
  </p:clrMapOvr>
</p:notes>
</file>

<file path=ppt/notesSlides/notesSlide2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7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78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79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605852"/>
      </p:ext>
    </p:extLst>
  </p:cSld>
  <p:clrMapOvr>
    <a:masterClrMapping/>
  </p:clrMapOvr>
</p:notes>
</file>

<file path=ppt/notesSlides/notesSlide2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1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12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13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628851"/>
      </p:ext>
    </p:extLst>
  </p:cSld>
  <p:clrMapOvr>
    <a:masterClrMapping/>
  </p:clrMapOvr>
</p:notes>
</file>

<file path=ppt/notesSlides/notesSlide2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8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19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20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46421"/>
      </p:ext>
    </p:extLst>
  </p:cSld>
  <p:clrMapOvr>
    <a:masterClrMapping/>
  </p:clrMapOvr>
</p:notes>
</file>

<file path=ppt/notesSlides/notesSlide2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0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41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42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552752"/>
      </p:ext>
    </p:extLst>
  </p:cSld>
  <p:clrMapOvr>
    <a:masterClrMapping/>
  </p:clrMapOvr>
</p:notes>
</file>

<file path=ppt/notesSlides/notesSlide2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2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63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64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668029"/>
      </p:ext>
    </p:extLst>
  </p:cSld>
  <p:clrMapOvr>
    <a:masterClrMapping/>
  </p:clrMapOvr>
</p:notes>
</file>

<file path=ppt/notesSlides/notesSlide2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5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86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87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619070"/>
      </p:ext>
    </p:extLst>
  </p:cSld>
  <p:clrMapOvr>
    <a:masterClrMapping/>
  </p:clrMapOvr>
</p:notes>
</file>

<file path=ppt/notesSlides/notesSlide2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6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07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08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502320"/>
      </p:ext>
    </p:extLst>
  </p:cSld>
  <p:clrMapOvr>
    <a:masterClrMapping/>
  </p:clrMapOvr>
</p:notes>
</file>

<file path=ppt/notesSlides/notesSlide2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8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29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30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760992"/>
      </p:ext>
    </p:extLst>
  </p:cSld>
  <p:clrMapOvr>
    <a:masterClrMapping/>
  </p:clrMapOvr>
</p:notes>
</file>

<file path=ppt/notesSlides/notesSlide3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7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48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49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527379"/>
      </p:ext>
    </p:extLst>
  </p:cSld>
  <p:clrMapOvr>
    <a:masterClrMapping/>
  </p:clrMapOvr>
</p:notes>
</file>

<file path=ppt/notesSlides/notesSlide3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2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63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64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15196"/>
      </p:ext>
    </p:extLst>
  </p:cSld>
  <p:clrMapOvr>
    <a:masterClrMapping/>
  </p:clrMapOvr>
</p:notes>
</file>

<file path=ppt/notesSlides/notesSlide3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7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78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79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166100"/>
      </p:ext>
    </p:extLst>
  </p:cSld>
  <p:clrMapOvr>
    <a:masterClrMapping/>
  </p:clrMapOvr>
</p:notes>
</file>

<file path=ppt/notesSlides/notesSlide3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8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99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800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489872"/>
      </p:ext>
    </p:extLst>
  </p:cSld>
  <p:clrMapOvr>
    <a:masterClrMapping/>
  </p:clrMapOvr>
</p:notes>
</file>

<file path=ppt/notesSlides/notesSlide3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8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19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820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556761"/>
      </p:ext>
    </p:extLst>
  </p:cSld>
  <p:clrMapOvr>
    <a:masterClrMapping/>
  </p:clrMapOvr>
</p:notes>
</file>

<file path=ppt/notesSlides/notesSlide3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1" name="Objeto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42" name="Cuadro de texto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843" name="Cuadro de texto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785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007991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646419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32541520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Cuadro de text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747035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uadro de text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Cuadro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uadro de text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43964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956090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770647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Cuadro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68026266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Cuadro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63778861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35515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Cuadro de texto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768202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913111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99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"/>
          <p:cNvSpPr>
            <a:spLocks/>
          </p:cNvSpPr>
          <p:nvPr/>
        </p:nvSpPr>
        <p:spPr>
          <a:xfrm rot="0">
            <a:off x="548640" y="2286000"/>
            <a:ext cx="731520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Arrays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" name="Rectángulo"/>
          <p:cNvSpPr>
            <a:spLocks/>
          </p:cNvSpPr>
          <p:nvPr/>
        </p:nvSpPr>
        <p:spPr>
          <a:xfrm rot="0">
            <a:off x="548640" y="3429000"/>
            <a:ext cx="7315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La primera estructura de datos: memoria contigua e indexada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" name="Rectángulo"/>
          <p:cNvSpPr>
            <a:spLocks/>
          </p:cNvSpPr>
          <p:nvPr/>
        </p:nvSpPr>
        <p:spPr>
          <a:xfrm rot="0">
            <a:off x="548640" y="6126479"/>
            <a:ext cx="73152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Prof. Nicolás Merchán Cuestas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" name="Rectángulo"/>
          <p:cNvSpPr>
            <a:spLocks/>
          </p:cNvSpPr>
          <p:nvPr/>
        </p:nvSpPr>
        <p:spPr>
          <a:xfrm rot="0">
            <a:off x="7863840" y="4206240"/>
            <a:ext cx="566928" cy="77723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2" name="Rectángulo"/>
          <p:cNvSpPr>
            <a:spLocks/>
          </p:cNvSpPr>
          <p:nvPr/>
        </p:nvSpPr>
        <p:spPr>
          <a:xfrm rot="0">
            <a:off x="7863840" y="4206240"/>
            <a:ext cx="566928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" name="Rectángulo"/>
          <p:cNvSpPr>
            <a:spLocks/>
          </p:cNvSpPr>
          <p:nvPr/>
        </p:nvSpPr>
        <p:spPr>
          <a:xfrm rot="0">
            <a:off x="7863840" y="5056632"/>
            <a:ext cx="566928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" name="Rectángulo"/>
          <p:cNvSpPr>
            <a:spLocks/>
          </p:cNvSpPr>
          <p:nvPr/>
        </p:nvSpPr>
        <p:spPr>
          <a:xfrm rot="0">
            <a:off x="8503920" y="4206240"/>
            <a:ext cx="566927" cy="77723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5" name="Rectángulo"/>
          <p:cNvSpPr>
            <a:spLocks/>
          </p:cNvSpPr>
          <p:nvPr/>
        </p:nvSpPr>
        <p:spPr>
          <a:xfrm rot="0">
            <a:off x="8503920" y="4206240"/>
            <a:ext cx="566927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Rectángulo"/>
          <p:cNvSpPr>
            <a:spLocks/>
          </p:cNvSpPr>
          <p:nvPr/>
        </p:nvSpPr>
        <p:spPr>
          <a:xfrm rot="0">
            <a:off x="8503920" y="5056632"/>
            <a:ext cx="566927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" name="Rectángulo"/>
          <p:cNvSpPr>
            <a:spLocks/>
          </p:cNvSpPr>
          <p:nvPr/>
        </p:nvSpPr>
        <p:spPr>
          <a:xfrm rot="0">
            <a:off x="9144000" y="4206240"/>
            <a:ext cx="566927" cy="77723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8" name="Rectángulo"/>
          <p:cNvSpPr>
            <a:spLocks/>
          </p:cNvSpPr>
          <p:nvPr/>
        </p:nvSpPr>
        <p:spPr>
          <a:xfrm rot="0">
            <a:off x="9144000" y="4206240"/>
            <a:ext cx="566927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Rectángulo"/>
          <p:cNvSpPr>
            <a:spLocks/>
          </p:cNvSpPr>
          <p:nvPr/>
        </p:nvSpPr>
        <p:spPr>
          <a:xfrm rot="0">
            <a:off x="9144000" y="5056632"/>
            <a:ext cx="566927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Rectángulo"/>
          <p:cNvSpPr>
            <a:spLocks/>
          </p:cNvSpPr>
          <p:nvPr/>
        </p:nvSpPr>
        <p:spPr>
          <a:xfrm rot="0">
            <a:off x="9784080" y="4206240"/>
            <a:ext cx="566927" cy="777239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21" name="Rectángulo"/>
          <p:cNvSpPr>
            <a:spLocks/>
          </p:cNvSpPr>
          <p:nvPr/>
        </p:nvSpPr>
        <p:spPr>
          <a:xfrm rot="0">
            <a:off x="9784080" y="4206240"/>
            <a:ext cx="566927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" name="Rectángulo"/>
          <p:cNvSpPr>
            <a:spLocks/>
          </p:cNvSpPr>
          <p:nvPr/>
        </p:nvSpPr>
        <p:spPr>
          <a:xfrm rot="0">
            <a:off x="9784080" y="5056632"/>
            <a:ext cx="566927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Rectángulo"/>
          <p:cNvSpPr>
            <a:spLocks/>
          </p:cNvSpPr>
          <p:nvPr/>
        </p:nvSpPr>
        <p:spPr>
          <a:xfrm rot="0">
            <a:off x="10424161" y="4206240"/>
            <a:ext cx="566927" cy="77723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24" name="Rectángulo"/>
          <p:cNvSpPr>
            <a:spLocks/>
          </p:cNvSpPr>
          <p:nvPr/>
        </p:nvSpPr>
        <p:spPr>
          <a:xfrm rot="0">
            <a:off x="10424161" y="4206240"/>
            <a:ext cx="566927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" name="Rectángulo"/>
          <p:cNvSpPr>
            <a:spLocks/>
          </p:cNvSpPr>
          <p:nvPr/>
        </p:nvSpPr>
        <p:spPr>
          <a:xfrm rot="0">
            <a:off x="10424161" y="5056632"/>
            <a:ext cx="566927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" name="Rectángulo"/>
          <p:cNvSpPr>
            <a:spLocks/>
          </p:cNvSpPr>
          <p:nvPr/>
        </p:nvSpPr>
        <p:spPr>
          <a:xfrm rot="0">
            <a:off x="11064240" y="4206240"/>
            <a:ext cx="566927" cy="77723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27" name="Rectángulo"/>
          <p:cNvSpPr>
            <a:spLocks/>
          </p:cNvSpPr>
          <p:nvPr/>
        </p:nvSpPr>
        <p:spPr>
          <a:xfrm rot="0">
            <a:off x="11064240" y="4206240"/>
            <a:ext cx="566927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56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Rectángulo"/>
          <p:cNvSpPr>
            <a:spLocks/>
          </p:cNvSpPr>
          <p:nvPr/>
        </p:nvSpPr>
        <p:spPr>
          <a:xfrm rot="0">
            <a:off x="11064240" y="5056632"/>
            <a:ext cx="566927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33644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Agenda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Óvalo"/>
          <p:cNvSpPr>
            <a:spLocks/>
          </p:cNvSpPr>
          <p:nvPr/>
        </p:nvSpPr>
        <p:spPr>
          <a:xfrm rot="0">
            <a:off x="548640" y="19202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4" name="Rectángulo"/>
          <p:cNvSpPr>
            <a:spLocks/>
          </p:cNvSpPr>
          <p:nvPr/>
        </p:nvSpPr>
        <p:spPr>
          <a:xfrm rot="0">
            <a:off x="548640" y="19202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" name="Rectángulo"/>
          <p:cNvSpPr>
            <a:spLocks/>
          </p:cNvSpPr>
          <p:nvPr/>
        </p:nvSpPr>
        <p:spPr>
          <a:xfrm rot="0">
            <a:off x="1170432" y="19202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Repaso: de Python a Arrays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" name="Óvalo"/>
          <p:cNvSpPr>
            <a:spLocks/>
          </p:cNvSpPr>
          <p:nvPr/>
        </p:nvSpPr>
        <p:spPr>
          <a:xfrm rot="0">
            <a:off x="548640" y="26060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7" name="Rectángulo"/>
          <p:cNvSpPr>
            <a:spLocks/>
          </p:cNvSpPr>
          <p:nvPr/>
        </p:nvSpPr>
        <p:spPr>
          <a:xfrm rot="0">
            <a:off x="548640" y="26060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Rectángulo"/>
          <p:cNvSpPr>
            <a:spLocks/>
          </p:cNvSpPr>
          <p:nvPr/>
        </p:nvSpPr>
        <p:spPr>
          <a:xfrm rot="0">
            <a:off x="1170432" y="26060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Anatomía y memoria de un array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Óvalo"/>
          <p:cNvSpPr>
            <a:spLocks/>
          </p:cNvSpPr>
          <p:nvPr/>
        </p:nvSpPr>
        <p:spPr>
          <a:xfrm rot="0">
            <a:off x="548640" y="32918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0" name="Rectángulo"/>
          <p:cNvSpPr>
            <a:spLocks/>
          </p:cNvSpPr>
          <p:nvPr/>
        </p:nvSpPr>
        <p:spPr>
          <a:xfrm rot="0">
            <a:off x="548640" y="32918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Rectángulo"/>
          <p:cNvSpPr>
            <a:spLocks/>
          </p:cNvSpPr>
          <p:nvPr/>
        </p:nvSpPr>
        <p:spPr>
          <a:xfrm rot="0">
            <a:off x="1170432" y="32918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Array estático en profundidad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" name="Óvalo"/>
          <p:cNvSpPr>
            <a:spLocks/>
          </p:cNvSpPr>
          <p:nvPr/>
        </p:nvSpPr>
        <p:spPr>
          <a:xfrm rot="0">
            <a:off x="548640" y="39776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3" name="Rectángulo"/>
          <p:cNvSpPr>
            <a:spLocks/>
          </p:cNvSpPr>
          <p:nvPr/>
        </p:nvSpPr>
        <p:spPr>
          <a:xfrm rot="0">
            <a:off x="548640" y="39776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Rectángulo"/>
          <p:cNvSpPr>
            <a:spLocks/>
          </p:cNvSpPr>
          <p:nvPr/>
        </p:nvSpPr>
        <p:spPr>
          <a:xfrm rot="0">
            <a:off x="1170432" y="39776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Array dinámico en profundidad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" name="Óvalo"/>
          <p:cNvSpPr>
            <a:spLocks/>
          </p:cNvSpPr>
          <p:nvPr/>
        </p:nvSpPr>
        <p:spPr>
          <a:xfrm rot="0">
            <a:off x="6355080" y="19202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6" name="Rectángulo"/>
          <p:cNvSpPr>
            <a:spLocks/>
          </p:cNvSpPr>
          <p:nvPr/>
        </p:nvSpPr>
        <p:spPr>
          <a:xfrm rot="0">
            <a:off x="6355080" y="19202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Rectángulo"/>
          <p:cNvSpPr>
            <a:spLocks/>
          </p:cNvSpPr>
          <p:nvPr/>
        </p:nvSpPr>
        <p:spPr>
          <a:xfrm rot="0">
            <a:off x="6976872" y="19202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Operaciones y su complejidad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Óvalo"/>
          <p:cNvSpPr>
            <a:spLocks/>
          </p:cNvSpPr>
          <p:nvPr/>
        </p:nvSpPr>
        <p:spPr>
          <a:xfrm rot="0">
            <a:off x="6355080" y="26060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9" name="Rectángulo"/>
          <p:cNvSpPr>
            <a:spLocks/>
          </p:cNvSpPr>
          <p:nvPr/>
        </p:nvSpPr>
        <p:spPr>
          <a:xfrm rot="0">
            <a:off x="6355080" y="26060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Rectángulo"/>
          <p:cNvSpPr>
            <a:spLocks/>
          </p:cNvSpPr>
          <p:nvPr/>
        </p:nvSpPr>
        <p:spPr>
          <a:xfrm rot="0">
            <a:off x="6976872" y="26060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Arrays en Python + errores comunes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Óvalo"/>
          <p:cNvSpPr>
            <a:spLocks/>
          </p:cNvSpPr>
          <p:nvPr/>
        </p:nvSpPr>
        <p:spPr>
          <a:xfrm rot="0">
            <a:off x="6355080" y="32918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52" name="Rectángulo"/>
          <p:cNvSpPr>
            <a:spLocks/>
          </p:cNvSpPr>
          <p:nvPr/>
        </p:nvSpPr>
        <p:spPr>
          <a:xfrm rot="0">
            <a:off x="6355080" y="32918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Rectángulo"/>
          <p:cNvSpPr>
            <a:spLocks/>
          </p:cNvSpPr>
          <p:nvPr/>
        </p:nvSpPr>
        <p:spPr>
          <a:xfrm rot="0">
            <a:off x="6976872" y="32918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Preguntas de comprobación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" name="Óvalo"/>
          <p:cNvSpPr>
            <a:spLocks/>
          </p:cNvSpPr>
          <p:nvPr/>
        </p:nvSpPr>
        <p:spPr>
          <a:xfrm rot="0">
            <a:off x="6355080" y="39776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55" name="Rectángulo"/>
          <p:cNvSpPr>
            <a:spLocks/>
          </p:cNvSpPr>
          <p:nvPr/>
        </p:nvSpPr>
        <p:spPr>
          <a:xfrm rot="0">
            <a:off x="6355080" y="39776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Rectángulo"/>
          <p:cNvSpPr>
            <a:spLocks/>
          </p:cNvSpPr>
          <p:nvPr/>
        </p:nvSpPr>
        <p:spPr>
          <a:xfrm rot="0">
            <a:off x="6976872" y="39776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Cierre: hacia el Nodo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683403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Lo que ya conocen: listas en Python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" name="Rectángulo redondeado"/>
          <p:cNvSpPr>
            <a:spLocks/>
          </p:cNvSpPr>
          <p:nvPr/>
        </p:nvSpPr>
        <p:spPr>
          <a:xfrm rot="0">
            <a:off x="548640" y="1828800"/>
            <a:ext cx="5669280" cy="4023359"/>
          </a:xfrm>
          <a:prstGeom prst="roundRect">
            <a:avLst>
              <a:gd name="adj" fmla="val 1365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63" name="Rectángulo"/>
          <p:cNvSpPr>
            <a:spLocks/>
          </p:cNvSpPr>
          <p:nvPr/>
        </p:nvSpPr>
        <p:spPr>
          <a:xfrm rot="0">
            <a:off x="868680" y="2048255"/>
            <a:ext cx="502920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&gt;&gt;&gt; arr = [12, 47, 8, 91]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" name="Rectángulo"/>
          <p:cNvSpPr>
            <a:spLocks/>
          </p:cNvSpPr>
          <p:nvPr/>
        </p:nvSpPr>
        <p:spPr>
          <a:xfrm rot="0">
            <a:off x="868680" y="2487167"/>
            <a:ext cx="502920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&gt;&gt;&gt; arr[0]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" name="Rectángulo"/>
          <p:cNvSpPr>
            <a:spLocks/>
          </p:cNvSpPr>
          <p:nvPr/>
        </p:nvSpPr>
        <p:spPr>
          <a:xfrm rot="0">
            <a:off x="868680" y="2926080"/>
            <a:ext cx="502920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12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" name="Rectángulo"/>
          <p:cNvSpPr>
            <a:spLocks/>
          </p:cNvSpPr>
          <p:nvPr/>
        </p:nvSpPr>
        <p:spPr>
          <a:xfrm rot="0">
            <a:off x="868680" y="3364992"/>
            <a:ext cx="502920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&gt;&gt;&gt; len(arr)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" name="Rectángulo"/>
          <p:cNvSpPr>
            <a:spLocks/>
          </p:cNvSpPr>
          <p:nvPr/>
        </p:nvSpPr>
        <p:spPr>
          <a:xfrm rot="0">
            <a:off x="868680" y="3803903"/>
            <a:ext cx="502920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Rectángulo"/>
          <p:cNvSpPr>
            <a:spLocks/>
          </p:cNvSpPr>
          <p:nvPr/>
        </p:nvSpPr>
        <p:spPr>
          <a:xfrm rot="0">
            <a:off x="868680" y="4242816"/>
            <a:ext cx="502920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&gt;&gt;&gt; arr[1:3]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Rectángulo"/>
          <p:cNvSpPr>
            <a:spLocks/>
          </p:cNvSpPr>
          <p:nvPr/>
        </p:nvSpPr>
        <p:spPr>
          <a:xfrm rot="0">
            <a:off x="868680" y="4681728"/>
            <a:ext cx="502920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[47, 8]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" name="Rectángulo"/>
          <p:cNvSpPr>
            <a:spLocks/>
          </p:cNvSpPr>
          <p:nvPr/>
        </p:nvSpPr>
        <p:spPr>
          <a:xfrm rot="0">
            <a:off x="6583680" y="1920240"/>
            <a:ext cx="484632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Preguntas para activar lo que ya saben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" name="Óvalo"/>
          <p:cNvSpPr>
            <a:spLocks/>
          </p:cNvSpPr>
          <p:nvPr/>
        </p:nvSpPr>
        <p:spPr>
          <a:xfrm rot="0">
            <a:off x="6583680" y="2569463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2" name="Rectángulo"/>
          <p:cNvSpPr>
            <a:spLocks/>
          </p:cNvSpPr>
          <p:nvPr/>
        </p:nvSpPr>
        <p:spPr>
          <a:xfrm rot="0">
            <a:off x="6858000" y="2441447"/>
            <a:ext cx="4572001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¿Qué pasa si escriben arr[10] y la lista solo tiene 4 elementos?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" name="Óvalo"/>
          <p:cNvSpPr>
            <a:spLocks/>
          </p:cNvSpPr>
          <p:nvPr/>
        </p:nvSpPr>
        <p:spPr>
          <a:xfrm rot="0">
            <a:off x="6583680" y="334670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4" name="Rectángulo"/>
          <p:cNvSpPr>
            <a:spLocks/>
          </p:cNvSpPr>
          <p:nvPr/>
        </p:nvSpPr>
        <p:spPr>
          <a:xfrm rot="0">
            <a:off x="6858000" y="3218688"/>
            <a:ext cx="4572001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¿Por qué arr[0] es el primero y no arr[1]?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" name="Óvalo"/>
          <p:cNvSpPr>
            <a:spLocks/>
          </p:cNvSpPr>
          <p:nvPr/>
        </p:nvSpPr>
        <p:spPr>
          <a:xfrm rot="0">
            <a:off x="6583680" y="4123943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6" name="Rectángulo"/>
          <p:cNvSpPr>
            <a:spLocks/>
          </p:cNvSpPr>
          <p:nvPr/>
        </p:nvSpPr>
        <p:spPr>
          <a:xfrm rot="0">
            <a:off x="6858000" y="3995928"/>
            <a:ext cx="4572001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¿Cómo creen que Python encuentra arr[2] tan rápido?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" name="Óvalo"/>
          <p:cNvSpPr>
            <a:spLocks/>
          </p:cNvSpPr>
          <p:nvPr/>
        </p:nvSpPr>
        <p:spPr>
          <a:xfrm rot="0">
            <a:off x="6583680" y="4901183"/>
            <a:ext cx="128015" cy="128015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8" name="Rectángulo"/>
          <p:cNvSpPr>
            <a:spLocks/>
          </p:cNvSpPr>
          <p:nvPr/>
        </p:nvSpPr>
        <p:spPr>
          <a:xfrm rot="0">
            <a:off x="6858000" y="4773168"/>
            <a:ext cx="4572001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¿Qué pasa en memoria cuando hacen arr.append(99)?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" name="Rectángulo"/>
          <p:cNvSpPr>
            <a:spLocks/>
          </p:cNvSpPr>
          <p:nvPr/>
        </p:nvSpPr>
        <p:spPr>
          <a:xfrm rot="0">
            <a:off x="6583680" y="5669280"/>
            <a:ext cx="48463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Estas preguntas se resuelven en las próximas diapositivas.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07893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Lo que hay detrás de una lista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Rectángulo redondeado"/>
          <p:cNvSpPr>
            <a:spLocks/>
          </p:cNvSpPr>
          <p:nvPr/>
        </p:nvSpPr>
        <p:spPr>
          <a:xfrm rot="0">
            <a:off x="548640" y="1920240"/>
            <a:ext cx="11064240" cy="868679"/>
          </a:xfrm>
          <a:prstGeom prst="roundRect">
            <a:avLst>
              <a:gd name="adj" fmla="val 6314"/>
            </a:avLst>
          </a:prstGeom>
          <a:solidFill>
            <a:srgbClr val="2B3574"/>
          </a:solidFill>
          <a:ln w="12700" cmpd="sng" cap="flat">
            <a:noFill/>
            <a:prstDash val="solid"/>
            <a:miter/>
          </a:ln>
        </p:spPr>
      </p:sp>
      <p:sp>
        <p:nvSpPr>
          <p:cNvPr id="86" name="Rectángulo"/>
          <p:cNvSpPr>
            <a:spLocks/>
          </p:cNvSpPr>
          <p:nvPr/>
        </p:nvSpPr>
        <p:spPr>
          <a:xfrm rot="0">
            <a:off x="868680" y="1920240"/>
            <a:ext cx="2377440" cy="868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Memoria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7" name="Rectángulo"/>
          <p:cNvSpPr>
            <a:spLocks/>
          </p:cNvSpPr>
          <p:nvPr/>
        </p:nvSpPr>
        <p:spPr>
          <a:xfrm rot="0">
            <a:off x="3383279" y="1920240"/>
            <a:ext cx="7955281" cy="868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 bloque contiguo reservado en la RAM del computador.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Rectángulo redondeado"/>
          <p:cNvSpPr>
            <a:spLocks/>
          </p:cNvSpPr>
          <p:nvPr/>
        </p:nvSpPr>
        <p:spPr>
          <a:xfrm rot="0">
            <a:off x="548640" y="2971799"/>
            <a:ext cx="11064240" cy="868680"/>
          </a:xfrm>
          <a:prstGeom prst="roundRect">
            <a:avLst>
              <a:gd name="adj" fmla="val 6314"/>
            </a:avLst>
          </a:prstGeom>
          <a:solidFill>
            <a:srgbClr val="2B3574"/>
          </a:solidFill>
          <a:ln w="12700" cmpd="sng" cap="flat">
            <a:noFill/>
            <a:prstDash val="solid"/>
            <a:miter/>
          </a:ln>
        </p:spPr>
      </p:sp>
      <p:sp>
        <p:nvSpPr>
          <p:cNvPr id="89" name="Rectángulo"/>
          <p:cNvSpPr>
            <a:spLocks/>
          </p:cNvSpPr>
          <p:nvPr/>
        </p:nvSpPr>
        <p:spPr>
          <a:xfrm rot="0">
            <a:off x="868680" y="2971799"/>
            <a:ext cx="23774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Índice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0" name="Rectángulo"/>
          <p:cNvSpPr>
            <a:spLocks/>
          </p:cNvSpPr>
          <p:nvPr/>
        </p:nvSpPr>
        <p:spPr>
          <a:xfrm rot="0">
            <a:off x="3383279" y="2971799"/>
            <a:ext cx="7955281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 número que se traduce en una posición dentro de ese bloque.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Rectángulo redondeado"/>
          <p:cNvSpPr>
            <a:spLocks/>
          </p:cNvSpPr>
          <p:nvPr/>
        </p:nvSpPr>
        <p:spPr>
          <a:xfrm rot="0">
            <a:off x="548640" y="4023359"/>
            <a:ext cx="11064240" cy="868680"/>
          </a:xfrm>
          <a:prstGeom prst="roundRect">
            <a:avLst>
              <a:gd name="adj" fmla="val 6314"/>
            </a:avLst>
          </a:prstGeom>
          <a:solidFill>
            <a:srgbClr val="2B3574"/>
          </a:solidFill>
          <a:ln w="12700" cmpd="sng" cap="flat">
            <a:noFill/>
            <a:prstDash val="solid"/>
            <a:miter/>
          </a:ln>
        </p:spPr>
      </p:sp>
      <p:sp>
        <p:nvSpPr>
          <p:cNvPr id="92" name="Rectángulo"/>
          <p:cNvSpPr>
            <a:spLocks/>
          </p:cNvSpPr>
          <p:nvPr/>
        </p:nvSpPr>
        <p:spPr>
          <a:xfrm rot="0">
            <a:off x="868680" y="4023359"/>
            <a:ext cx="23774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Tipo de dato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Rectángulo"/>
          <p:cNvSpPr>
            <a:spLocks/>
          </p:cNvSpPr>
          <p:nvPr/>
        </p:nvSpPr>
        <p:spPr>
          <a:xfrm rot="0">
            <a:off x="3383279" y="4023359"/>
            <a:ext cx="7955281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Determina cuántos bytes ocupa cada elemento.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4" name="Rectángulo redondeado"/>
          <p:cNvSpPr>
            <a:spLocks/>
          </p:cNvSpPr>
          <p:nvPr/>
        </p:nvSpPr>
        <p:spPr>
          <a:xfrm rot="0">
            <a:off x="548640" y="5074920"/>
            <a:ext cx="11064240" cy="868680"/>
          </a:xfrm>
          <a:prstGeom prst="roundRect">
            <a:avLst>
              <a:gd name="adj" fmla="val 6314"/>
            </a:avLst>
          </a:prstGeom>
          <a:solidFill>
            <a:srgbClr val="2B3574"/>
          </a:solidFill>
          <a:ln w="12700" cmpd="sng" cap="flat">
            <a:noFill/>
            <a:prstDash val="solid"/>
            <a:miter/>
          </a:ln>
        </p:spPr>
      </p:sp>
      <p:sp>
        <p:nvSpPr>
          <p:cNvPr id="95" name="Rectángulo"/>
          <p:cNvSpPr>
            <a:spLocks/>
          </p:cNvSpPr>
          <p:nvPr/>
        </p:nvSpPr>
        <p:spPr>
          <a:xfrm rot="0">
            <a:off x="868680" y="5074920"/>
            <a:ext cx="237744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Operaciones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Rectángulo"/>
          <p:cNvSpPr>
            <a:spLocks/>
          </p:cNvSpPr>
          <p:nvPr/>
        </p:nvSpPr>
        <p:spPr>
          <a:xfrm rot="0">
            <a:off x="3383279" y="5074920"/>
            <a:ext cx="7955281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Cada una tiene un costo distinto: no todas son igual de rápidas.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34383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¿Qué es un Array?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Rectángulo redondeado"/>
          <p:cNvSpPr>
            <a:spLocks/>
          </p:cNvSpPr>
          <p:nvPr/>
        </p:nvSpPr>
        <p:spPr>
          <a:xfrm rot="0">
            <a:off x="548640" y="1737360"/>
            <a:ext cx="11064240" cy="1005839"/>
          </a:xfrm>
          <a:prstGeom prst="roundRect">
            <a:avLst>
              <a:gd name="adj" fmla="val 5453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103" name="Rectángulo"/>
          <p:cNvSpPr>
            <a:spLocks/>
          </p:cNvSpPr>
          <p:nvPr/>
        </p:nvSpPr>
        <p:spPr>
          <a:xfrm rot="0">
            <a:off x="914400" y="1737360"/>
            <a:ext cx="10332720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 array es una colección de elementos del mismo tipo, almacenados en posiciones consecutivas de memoria y accesibles mediante un índice numérico.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Rectángulo"/>
          <p:cNvSpPr>
            <a:spLocks/>
          </p:cNvSpPr>
          <p:nvPr/>
        </p:nvSpPr>
        <p:spPr>
          <a:xfrm rot="0">
            <a:off x="548640" y="3063239"/>
            <a:ext cx="54864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Analogía: casillero de estacionamiento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Óvalo"/>
          <p:cNvSpPr>
            <a:spLocks/>
          </p:cNvSpPr>
          <p:nvPr/>
        </p:nvSpPr>
        <p:spPr>
          <a:xfrm rot="0">
            <a:off x="548640" y="357530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106" name="Rectángulo"/>
          <p:cNvSpPr>
            <a:spLocks/>
          </p:cNvSpPr>
          <p:nvPr/>
        </p:nvSpPr>
        <p:spPr>
          <a:xfrm rot="0">
            <a:off x="822960" y="3447288"/>
            <a:ext cx="5394960" cy="5760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El edificio reserva un pasillo completo y numerado (memoria contigua).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Óvalo"/>
          <p:cNvSpPr>
            <a:spLocks/>
          </p:cNvSpPr>
          <p:nvPr/>
        </p:nvSpPr>
        <p:spPr>
          <a:xfrm rot="0">
            <a:off x="548640" y="4197096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108" name="Rectángulo"/>
          <p:cNvSpPr>
            <a:spLocks/>
          </p:cNvSpPr>
          <p:nvPr/>
        </p:nvSpPr>
        <p:spPr>
          <a:xfrm rot="0">
            <a:off x="822960" y="4069080"/>
            <a:ext cx="5394960" cy="5760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Cada casillero tiene un número fijo, no un nombre (índice).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Óvalo"/>
          <p:cNvSpPr>
            <a:spLocks/>
          </p:cNvSpPr>
          <p:nvPr/>
        </p:nvSpPr>
        <p:spPr>
          <a:xfrm rot="0">
            <a:off x="548640" y="4818888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110" name="Rectángulo"/>
          <p:cNvSpPr>
            <a:spLocks/>
          </p:cNvSpPr>
          <p:nvPr/>
        </p:nvSpPr>
        <p:spPr>
          <a:xfrm rot="0">
            <a:off x="822960" y="4690872"/>
            <a:ext cx="5394960" cy="57607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Todos los casilleros son del mismo tamaño (mismo tipo de dato).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Óvalo"/>
          <p:cNvSpPr>
            <a:spLocks/>
          </p:cNvSpPr>
          <p:nvPr/>
        </p:nvSpPr>
        <p:spPr>
          <a:xfrm rot="0">
            <a:off x="548640" y="5440679"/>
            <a:ext cx="128015" cy="128015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112" name="Rectángulo"/>
          <p:cNvSpPr>
            <a:spLocks/>
          </p:cNvSpPr>
          <p:nvPr/>
        </p:nvSpPr>
        <p:spPr>
          <a:xfrm rot="0">
            <a:off x="822960" y="5312664"/>
            <a:ext cx="5394960" cy="57607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 sabes el número, llegas directo sin recorrer el pasillo (acceso O(1)).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Rectángulo"/>
          <p:cNvSpPr>
            <a:spLocks/>
          </p:cNvSpPr>
          <p:nvPr/>
        </p:nvSpPr>
        <p:spPr>
          <a:xfrm rot="0">
            <a:off x="6675120" y="3108960"/>
            <a:ext cx="77724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14" name="Rectángulo"/>
          <p:cNvSpPr>
            <a:spLocks/>
          </p:cNvSpPr>
          <p:nvPr/>
        </p:nvSpPr>
        <p:spPr>
          <a:xfrm rot="0">
            <a:off x="6675120" y="3108960"/>
            <a:ext cx="77724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0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5" name="Rectángulo"/>
          <p:cNvSpPr>
            <a:spLocks/>
          </p:cNvSpPr>
          <p:nvPr/>
        </p:nvSpPr>
        <p:spPr>
          <a:xfrm rot="0">
            <a:off x="7543800" y="3108960"/>
            <a:ext cx="77724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16" name="Rectángulo"/>
          <p:cNvSpPr>
            <a:spLocks/>
          </p:cNvSpPr>
          <p:nvPr/>
        </p:nvSpPr>
        <p:spPr>
          <a:xfrm rot="0">
            <a:off x="7543800" y="3108960"/>
            <a:ext cx="77724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Rectángulo"/>
          <p:cNvSpPr>
            <a:spLocks/>
          </p:cNvSpPr>
          <p:nvPr/>
        </p:nvSpPr>
        <p:spPr>
          <a:xfrm rot="0">
            <a:off x="8412480" y="3108960"/>
            <a:ext cx="777240" cy="822959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18" name="Rectángulo"/>
          <p:cNvSpPr>
            <a:spLocks/>
          </p:cNvSpPr>
          <p:nvPr/>
        </p:nvSpPr>
        <p:spPr>
          <a:xfrm rot="0">
            <a:off x="8412480" y="3108960"/>
            <a:ext cx="77724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9" name="Rectángulo"/>
          <p:cNvSpPr>
            <a:spLocks/>
          </p:cNvSpPr>
          <p:nvPr/>
        </p:nvSpPr>
        <p:spPr>
          <a:xfrm rot="0">
            <a:off x="9281160" y="3108960"/>
            <a:ext cx="777239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20" name="Rectángulo"/>
          <p:cNvSpPr>
            <a:spLocks/>
          </p:cNvSpPr>
          <p:nvPr/>
        </p:nvSpPr>
        <p:spPr>
          <a:xfrm rot="0">
            <a:off x="9281160" y="3108960"/>
            <a:ext cx="77723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1" name="Rectángulo"/>
          <p:cNvSpPr>
            <a:spLocks/>
          </p:cNvSpPr>
          <p:nvPr/>
        </p:nvSpPr>
        <p:spPr>
          <a:xfrm rot="0">
            <a:off x="10149840" y="3108960"/>
            <a:ext cx="777239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22" name="Rectángulo"/>
          <p:cNvSpPr>
            <a:spLocks/>
          </p:cNvSpPr>
          <p:nvPr/>
        </p:nvSpPr>
        <p:spPr>
          <a:xfrm rot="0">
            <a:off x="10149840" y="3108960"/>
            <a:ext cx="77723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Rectángulo"/>
          <p:cNvSpPr>
            <a:spLocks/>
          </p:cNvSpPr>
          <p:nvPr/>
        </p:nvSpPr>
        <p:spPr>
          <a:xfrm rot="0">
            <a:off x="6675120" y="4069080"/>
            <a:ext cx="4572001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↑ el auto va directo al casillero 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4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433569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Anatomía de un elemento del array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9" name="Rectángulo"/>
          <p:cNvSpPr>
            <a:spLocks/>
          </p:cNvSpPr>
          <p:nvPr/>
        </p:nvSpPr>
        <p:spPr>
          <a:xfrm rot="0">
            <a:off x="5120640" y="2880360"/>
            <a:ext cx="1828800" cy="1280159"/>
          </a:xfrm>
          <a:prstGeom prst="rect"/>
          <a:solidFill>
            <a:srgbClr val="FFC145"/>
          </a:solidFill>
          <a:ln w="25400" cmpd="sng" cap="flat">
            <a:solidFill>
              <a:srgbClr val="FFFFFF"/>
            </a:solidFill>
            <a:prstDash val="solid"/>
            <a:round/>
          </a:ln>
        </p:spPr>
      </p:sp>
      <p:sp>
        <p:nvSpPr>
          <p:cNvPr id="130" name="Rectángulo"/>
          <p:cNvSpPr>
            <a:spLocks/>
          </p:cNvSpPr>
          <p:nvPr/>
        </p:nvSpPr>
        <p:spPr>
          <a:xfrm rot="0">
            <a:off x="5120640" y="2880360"/>
            <a:ext cx="182880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Línea recta"/>
          <p:cNvSpPr>
            <a:spLocks/>
          </p:cNvSpPr>
          <p:nvPr/>
        </p:nvSpPr>
        <p:spPr>
          <a:xfrm rot="0">
            <a:off x="6035039" y="2377440"/>
            <a:ext cx="913" cy="457200"/>
          </a:xfrm>
          <a:prstGeom prst="line"/>
          <a:noFill/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132" name="Rectángulo"/>
          <p:cNvSpPr>
            <a:spLocks/>
          </p:cNvSpPr>
          <p:nvPr/>
        </p:nvSpPr>
        <p:spPr>
          <a:xfrm rot="0">
            <a:off x="4114800" y="1920240"/>
            <a:ext cx="384048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Dirección de memoria: 1012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Línea recta"/>
          <p:cNvSpPr>
            <a:spLocks/>
          </p:cNvSpPr>
          <p:nvPr/>
        </p:nvSpPr>
        <p:spPr>
          <a:xfrm rot="0">
            <a:off x="3566160" y="3520440"/>
            <a:ext cx="1463040" cy="913"/>
          </a:xfrm>
          <a:prstGeom prst="line"/>
          <a:noFill/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134" name="Rectángulo"/>
          <p:cNvSpPr>
            <a:spLocks/>
          </p:cNvSpPr>
          <p:nvPr/>
        </p:nvSpPr>
        <p:spPr>
          <a:xfrm rot="0">
            <a:off x="1737360" y="3200400"/>
            <a:ext cx="1828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Índice: 3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5" name="Línea recta"/>
          <p:cNvSpPr>
            <a:spLocks/>
          </p:cNvSpPr>
          <p:nvPr/>
        </p:nvSpPr>
        <p:spPr>
          <a:xfrm rot="0">
            <a:off x="6949440" y="3520440"/>
            <a:ext cx="1463040" cy="913"/>
          </a:xfrm>
          <a:prstGeom prst="line"/>
          <a:noFill/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136" name="Rectángulo"/>
          <p:cNvSpPr>
            <a:spLocks/>
          </p:cNvSpPr>
          <p:nvPr/>
        </p:nvSpPr>
        <p:spPr>
          <a:xfrm rot="0">
            <a:off x="8503920" y="3200400"/>
            <a:ext cx="32004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Tipo: entero (int) → 4 bytes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Línea recta"/>
          <p:cNvSpPr>
            <a:spLocks/>
          </p:cNvSpPr>
          <p:nvPr/>
        </p:nvSpPr>
        <p:spPr>
          <a:xfrm rot="0">
            <a:off x="6035039" y="4160520"/>
            <a:ext cx="913" cy="457200"/>
          </a:xfrm>
          <a:prstGeom prst="line"/>
          <a:noFill/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138" name="Rectángulo"/>
          <p:cNvSpPr>
            <a:spLocks/>
          </p:cNvSpPr>
          <p:nvPr/>
        </p:nvSpPr>
        <p:spPr>
          <a:xfrm rot="0">
            <a:off x="4114800" y="4663440"/>
            <a:ext cx="384048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Valor almacenado: 91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9" name="Rectángulo"/>
          <p:cNvSpPr>
            <a:spLocks/>
          </p:cNvSpPr>
          <p:nvPr/>
        </p:nvSpPr>
        <p:spPr>
          <a:xfrm rot="0">
            <a:off x="548640" y="5806440"/>
            <a:ext cx="10881359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Todo elemento del array comparte el mismo tipo de dato — por eso todos ocupan el mismo espacio y el cálculo de direcciones funciona.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0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833652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¿Cómo calcula la dirección?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5" name="Rectángulo redondeado"/>
          <p:cNvSpPr>
            <a:spLocks/>
          </p:cNvSpPr>
          <p:nvPr/>
        </p:nvSpPr>
        <p:spPr>
          <a:xfrm rot="0">
            <a:off x="548640" y="1828800"/>
            <a:ext cx="11064240" cy="1005839"/>
          </a:xfrm>
          <a:prstGeom prst="roundRect">
            <a:avLst>
              <a:gd name="adj" fmla="val 5453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146" name="Rectángulo"/>
          <p:cNvSpPr>
            <a:spLocks/>
          </p:cNvSpPr>
          <p:nvPr/>
        </p:nvSpPr>
        <p:spPr>
          <a:xfrm rot="0">
            <a:off x="548640" y="1828800"/>
            <a:ext cx="11064240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C145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dirección(i)  =  dirección_base  +  i × tamaño_elemento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7" name="Rectángulo"/>
          <p:cNvSpPr>
            <a:spLocks/>
          </p:cNvSpPr>
          <p:nvPr/>
        </p:nvSpPr>
        <p:spPr>
          <a:xfrm rot="0">
            <a:off x="548640" y="3063239"/>
            <a:ext cx="73152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Ejemplo con el array de la diapositiva anterior: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48" name="Hoja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548640" y="3520440"/>
          <a:ext cx="7315200" cy="237744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4206227"/>
                <a:gridCol w="3108947"/>
              </a:tblGrid>
              <a:tr h="47548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Variable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Valor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dirección_base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1000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7548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tamaño_elemento (int)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4 bytes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7548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índice (i)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3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7548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1E2761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dirección(3) = 1000 + 3 × 4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1E2761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= 1012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9" name="Rectángulo redondeado"/>
          <p:cNvSpPr>
            <a:spLocks/>
          </p:cNvSpPr>
          <p:nvPr/>
        </p:nvSpPr>
        <p:spPr>
          <a:xfrm rot="0">
            <a:off x="8229600" y="3520440"/>
            <a:ext cx="3383279" cy="2377440"/>
          </a:xfrm>
          <a:prstGeom prst="roundRect">
            <a:avLst>
              <a:gd name="adj" fmla="val 3078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150" name="Rectángulo"/>
          <p:cNvSpPr>
            <a:spLocks/>
          </p:cNvSpPr>
          <p:nvPr/>
        </p:nvSpPr>
        <p:spPr>
          <a:xfrm rot="0">
            <a:off x="8549640" y="3794760"/>
            <a:ext cx="2743200" cy="1828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Por eso arr[i] es O(1): sin importar qué tan grande sea el array, es siempre una multiplicación y una suma.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1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139692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Representación completa en memoria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6" name="Rectángulo"/>
          <p:cNvSpPr>
            <a:spLocks/>
          </p:cNvSpPr>
          <p:nvPr/>
        </p:nvSpPr>
        <p:spPr>
          <a:xfrm rot="0">
            <a:off x="548640" y="1554480"/>
            <a:ext cx="91440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El índice se traduce directamente en una dirección: no hay que recorrer nada.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7" name="Rectángulo"/>
          <p:cNvSpPr>
            <a:spLocks/>
          </p:cNvSpPr>
          <p:nvPr/>
        </p:nvSpPr>
        <p:spPr>
          <a:xfrm rot="0">
            <a:off x="5852160" y="2651760"/>
            <a:ext cx="18288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arr[3]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8" name="Línea recta"/>
          <p:cNvSpPr>
            <a:spLocks/>
          </p:cNvSpPr>
          <p:nvPr/>
        </p:nvSpPr>
        <p:spPr>
          <a:xfrm rot="0">
            <a:off x="6766559" y="3035808"/>
            <a:ext cx="913" cy="310896"/>
          </a:xfrm>
          <a:prstGeom prst="line"/>
          <a:noFill/>
          <a:ln w="381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159" name="Rectángulo"/>
          <p:cNvSpPr>
            <a:spLocks/>
          </p:cNvSpPr>
          <p:nvPr/>
        </p:nvSpPr>
        <p:spPr>
          <a:xfrm rot="0">
            <a:off x="1097280" y="3072384"/>
            <a:ext cx="146303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1000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0" name="Rectángulo"/>
          <p:cNvSpPr>
            <a:spLocks/>
          </p:cNvSpPr>
          <p:nvPr/>
        </p:nvSpPr>
        <p:spPr>
          <a:xfrm rot="0">
            <a:off x="1097280" y="3383279"/>
            <a:ext cx="1463039" cy="1280159"/>
          </a:xfrm>
          <a:prstGeom prst="rect"/>
          <a:solidFill>
            <a:srgbClr val="FFFFFF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61" name="Rectángulo"/>
          <p:cNvSpPr>
            <a:spLocks/>
          </p:cNvSpPr>
          <p:nvPr/>
        </p:nvSpPr>
        <p:spPr>
          <a:xfrm rot="0">
            <a:off x="1097280" y="3383279"/>
            <a:ext cx="1463039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2" name="Rectángulo"/>
          <p:cNvSpPr>
            <a:spLocks/>
          </p:cNvSpPr>
          <p:nvPr/>
        </p:nvSpPr>
        <p:spPr>
          <a:xfrm rot="0">
            <a:off x="1097280" y="4800600"/>
            <a:ext cx="146303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3" name="Rectángulo"/>
          <p:cNvSpPr>
            <a:spLocks/>
          </p:cNvSpPr>
          <p:nvPr/>
        </p:nvSpPr>
        <p:spPr>
          <a:xfrm rot="0">
            <a:off x="2743200" y="3072384"/>
            <a:ext cx="14630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1004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4" name="Rectángulo"/>
          <p:cNvSpPr>
            <a:spLocks/>
          </p:cNvSpPr>
          <p:nvPr/>
        </p:nvSpPr>
        <p:spPr>
          <a:xfrm rot="0">
            <a:off x="2743200" y="3383279"/>
            <a:ext cx="1463040" cy="1280159"/>
          </a:xfrm>
          <a:prstGeom prst="rect"/>
          <a:solidFill>
            <a:srgbClr val="FFFFFF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65" name="Rectángulo"/>
          <p:cNvSpPr>
            <a:spLocks/>
          </p:cNvSpPr>
          <p:nvPr/>
        </p:nvSpPr>
        <p:spPr>
          <a:xfrm rot="0">
            <a:off x="2743200" y="3383279"/>
            <a:ext cx="146304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6" name="Rectángulo"/>
          <p:cNvSpPr>
            <a:spLocks/>
          </p:cNvSpPr>
          <p:nvPr/>
        </p:nvSpPr>
        <p:spPr>
          <a:xfrm rot="0">
            <a:off x="2743200" y="4800600"/>
            <a:ext cx="14630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7" name="Rectángulo"/>
          <p:cNvSpPr>
            <a:spLocks/>
          </p:cNvSpPr>
          <p:nvPr/>
        </p:nvSpPr>
        <p:spPr>
          <a:xfrm rot="0">
            <a:off x="4389120" y="3072384"/>
            <a:ext cx="14630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1008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8" name="Rectángulo"/>
          <p:cNvSpPr>
            <a:spLocks/>
          </p:cNvSpPr>
          <p:nvPr/>
        </p:nvSpPr>
        <p:spPr>
          <a:xfrm rot="0">
            <a:off x="4389120" y="3383279"/>
            <a:ext cx="1463040" cy="1280159"/>
          </a:xfrm>
          <a:prstGeom prst="rect"/>
          <a:solidFill>
            <a:srgbClr val="FFFFFF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69" name="Rectángulo"/>
          <p:cNvSpPr>
            <a:spLocks/>
          </p:cNvSpPr>
          <p:nvPr/>
        </p:nvSpPr>
        <p:spPr>
          <a:xfrm rot="0">
            <a:off x="4389120" y="3383279"/>
            <a:ext cx="146304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0" name="Rectángulo"/>
          <p:cNvSpPr>
            <a:spLocks/>
          </p:cNvSpPr>
          <p:nvPr/>
        </p:nvSpPr>
        <p:spPr>
          <a:xfrm rot="0">
            <a:off x="4389120" y="4800600"/>
            <a:ext cx="14630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1" name="Rectángulo"/>
          <p:cNvSpPr>
            <a:spLocks/>
          </p:cNvSpPr>
          <p:nvPr/>
        </p:nvSpPr>
        <p:spPr>
          <a:xfrm rot="0">
            <a:off x="6035039" y="3072384"/>
            <a:ext cx="1463040" cy="27432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2" name="Rectángulo"/>
          <p:cNvSpPr>
            <a:spLocks/>
          </p:cNvSpPr>
          <p:nvPr/>
        </p:nvSpPr>
        <p:spPr>
          <a:xfrm rot="0">
            <a:off x="6035039" y="3383279"/>
            <a:ext cx="1463040" cy="1280159"/>
          </a:xfrm>
          <a:prstGeom prst="rect"/>
          <a:solidFill>
            <a:srgbClr val="FFC145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73" name="Rectángulo"/>
          <p:cNvSpPr>
            <a:spLocks/>
          </p:cNvSpPr>
          <p:nvPr/>
        </p:nvSpPr>
        <p:spPr>
          <a:xfrm rot="0">
            <a:off x="6035039" y="3383279"/>
            <a:ext cx="146304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4" name="Rectángulo"/>
          <p:cNvSpPr>
            <a:spLocks/>
          </p:cNvSpPr>
          <p:nvPr/>
        </p:nvSpPr>
        <p:spPr>
          <a:xfrm rot="0">
            <a:off x="6035039" y="4800600"/>
            <a:ext cx="14630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5" name="Rectángulo"/>
          <p:cNvSpPr>
            <a:spLocks/>
          </p:cNvSpPr>
          <p:nvPr/>
        </p:nvSpPr>
        <p:spPr>
          <a:xfrm rot="0">
            <a:off x="7680960" y="3072384"/>
            <a:ext cx="14630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1016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Rectángulo"/>
          <p:cNvSpPr>
            <a:spLocks/>
          </p:cNvSpPr>
          <p:nvPr/>
        </p:nvSpPr>
        <p:spPr>
          <a:xfrm rot="0">
            <a:off x="7680960" y="3383279"/>
            <a:ext cx="1463040" cy="1280159"/>
          </a:xfrm>
          <a:prstGeom prst="rect"/>
          <a:solidFill>
            <a:srgbClr val="FFFFFF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77" name="Rectángulo"/>
          <p:cNvSpPr>
            <a:spLocks/>
          </p:cNvSpPr>
          <p:nvPr/>
        </p:nvSpPr>
        <p:spPr>
          <a:xfrm rot="0">
            <a:off x="7680960" y="3383279"/>
            <a:ext cx="146304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8" name="Rectángulo"/>
          <p:cNvSpPr>
            <a:spLocks/>
          </p:cNvSpPr>
          <p:nvPr/>
        </p:nvSpPr>
        <p:spPr>
          <a:xfrm rot="0">
            <a:off x="7680960" y="4800600"/>
            <a:ext cx="14630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Rectángulo"/>
          <p:cNvSpPr>
            <a:spLocks/>
          </p:cNvSpPr>
          <p:nvPr/>
        </p:nvSpPr>
        <p:spPr>
          <a:xfrm rot="0">
            <a:off x="9326880" y="3072384"/>
            <a:ext cx="14630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1020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Rectángulo"/>
          <p:cNvSpPr>
            <a:spLocks/>
          </p:cNvSpPr>
          <p:nvPr/>
        </p:nvSpPr>
        <p:spPr>
          <a:xfrm rot="0">
            <a:off x="9326880" y="3383279"/>
            <a:ext cx="1463040" cy="1280159"/>
          </a:xfrm>
          <a:prstGeom prst="rect"/>
          <a:solidFill>
            <a:srgbClr val="FFFFFF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181" name="Rectángulo"/>
          <p:cNvSpPr>
            <a:spLocks/>
          </p:cNvSpPr>
          <p:nvPr/>
        </p:nvSpPr>
        <p:spPr>
          <a:xfrm rot="0">
            <a:off x="9326880" y="3383279"/>
            <a:ext cx="146304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56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2" name="Rectángulo"/>
          <p:cNvSpPr>
            <a:spLocks/>
          </p:cNvSpPr>
          <p:nvPr/>
        </p:nvSpPr>
        <p:spPr>
          <a:xfrm rot="0">
            <a:off x="9326880" y="4800600"/>
            <a:ext cx="14630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3" name="Rectángulo"/>
          <p:cNvSpPr>
            <a:spLocks/>
          </p:cNvSpPr>
          <p:nvPr/>
        </p:nvSpPr>
        <p:spPr>
          <a:xfrm rot="0">
            <a:off x="1097280" y="5486400"/>
            <a:ext cx="91440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O(1)  →  arr[3] se obtiene en un solo paso, sin importar el tamaño del array.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902059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Comprobación: memoria y acceso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9" name="Rectángulo redondeado"/>
          <p:cNvSpPr>
            <a:spLocks/>
          </p:cNvSpPr>
          <p:nvPr/>
        </p:nvSpPr>
        <p:spPr>
          <a:xfrm rot="0">
            <a:off x="548640" y="1920240"/>
            <a:ext cx="11064240" cy="868679"/>
          </a:xfrm>
          <a:prstGeom prst="roundRect">
            <a:avLst>
              <a:gd name="adj" fmla="val 6314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190" name="Óvalo"/>
          <p:cNvSpPr>
            <a:spLocks/>
          </p:cNvSpPr>
          <p:nvPr/>
        </p:nvSpPr>
        <p:spPr>
          <a:xfrm rot="0">
            <a:off x="822960" y="212598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191" name="Rectángulo"/>
          <p:cNvSpPr>
            <a:spLocks/>
          </p:cNvSpPr>
          <p:nvPr/>
        </p:nvSpPr>
        <p:spPr>
          <a:xfrm rot="0">
            <a:off x="822960" y="212598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2" name="Rectángulo"/>
          <p:cNvSpPr>
            <a:spLocks/>
          </p:cNvSpPr>
          <p:nvPr/>
        </p:nvSpPr>
        <p:spPr>
          <a:xfrm rot="0">
            <a:off x="1554480" y="1920240"/>
            <a:ext cx="9784080" cy="868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¿Por qué es necesario que todos los elementos de un array sean del mismo tipo de dato?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3" name="Rectángulo redondeado"/>
          <p:cNvSpPr>
            <a:spLocks/>
          </p:cNvSpPr>
          <p:nvPr/>
        </p:nvSpPr>
        <p:spPr>
          <a:xfrm rot="0">
            <a:off x="548640" y="2971799"/>
            <a:ext cx="11064240" cy="868680"/>
          </a:xfrm>
          <a:prstGeom prst="roundRect">
            <a:avLst>
              <a:gd name="adj" fmla="val 6314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194" name="Óvalo"/>
          <p:cNvSpPr>
            <a:spLocks/>
          </p:cNvSpPr>
          <p:nvPr/>
        </p:nvSpPr>
        <p:spPr>
          <a:xfrm rot="0">
            <a:off x="822960" y="31775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195" name="Rectángulo"/>
          <p:cNvSpPr>
            <a:spLocks/>
          </p:cNvSpPr>
          <p:nvPr/>
        </p:nvSpPr>
        <p:spPr>
          <a:xfrm rot="0">
            <a:off x="822960" y="31775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6" name="Rectángulo"/>
          <p:cNvSpPr>
            <a:spLocks/>
          </p:cNvSpPr>
          <p:nvPr/>
        </p:nvSpPr>
        <p:spPr>
          <a:xfrm rot="0">
            <a:off x="1554480" y="2971799"/>
            <a:ext cx="978408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 dirección_base = 2000 y cada entero ocupa 8 bytes, ¿cuál es la dirección de arr[5]?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7" name="Rectángulo redondeado"/>
          <p:cNvSpPr>
            <a:spLocks/>
          </p:cNvSpPr>
          <p:nvPr/>
        </p:nvSpPr>
        <p:spPr>
          <a:xfrm rot="0">
            <a:off x="548640" y="4023359"/>
            <a:ext cx="11064240" cy="868680"/>
          </a:xfrm>
          <a:prstGeom prst="roundRect">
            <a:avLst>
              <a:gd name="adj" fmla="val 6314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198" name="Óvalo"/>
          <p:cNvSpPr>
            <a:spLocks/>
          </p:cNvSpPr>
          <p:nvPr/>
        </p:nvSpPr>
        <p:spPr>
          <a:xfrm rot="0">
            <a:off x="822960" y="422910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199" name="Rectángulo"/>
          <p:cNvSpPr>
            <a:spLocks/>
          </p:cNvSpPr>
          <p:nvPr/>
        </p:nvSpPr>
        <p:spPr>
          <a:xfrm rot="0">
            <a:off x="822960" y="422910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Rectángulo"/>
          <p:cNvSpPr>
            <a:spLocks/>
          </p:cNvSpPr>
          <p:nvPr/>
        </p:nvSpPr>
        <p:spPr>
          <a:xfrm rot="0">
            <a:off x="1554480" y="4023359"/>
            <a:ext cx="978408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¿Qué significa, en términos prácticos, que el acceso a un array sea O(1)?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5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124914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Array estático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0" name="Rectángulo redondeado"/>
          <p:cNvSpPr>
            <a:spLocks/>
          </p:cNvSpPr>
          <p:nvPr/>
        </p:nvSpPr>
        <p:spPr>
          <a:xfrm rot="0">
            <a:off x="548640" y="1828800"/>
            <a:ext cx="5852160" cy="2377440"/>
          </a:xfrm>
          <a:prstGeom prst="roundRect">
            <a:avLst>
              <a:gd name="adj" fmla="val 2310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211" name="Rectángulo"/>
          <p:cNvSpPr>
            <a:spLocks/>
          </p:cNvSpPr>
          <p:nvPr/>
        </p:nvSpPr>
        <p:spPr>
          <a:xfrm rot="0">
            <a:off x="868680" y="2048255"/>
            <a:ext cx="521208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int arr[5];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// reserva espacio para 5 enteros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2" name="Rectángulo"/>
          <p:cNvSpPr>
            <a:spLocks/>
          </p:cNvSpPr>
          <p:nvPr/>
        </p:nvSpPr>
        <p:spPr>
          <a:xfrm rot="0">
            <a:off x="868680" y="2487167"/>
            <a:ext cx="521208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arr[0] = 10;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// válido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3" name="Rectángulo"/>
          <p:cNvSpPr>
            <a:spLocks/>
          </p:cNvSpPr>
          <p:nvPr/>
        </p:nvSpPr>
        <p:spPr>
          <a:xfrm rot="0">
            <a:off x="868680" y="2926080"/>
            <a:ext cx="521208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arr[4] = 99;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// válido, último índice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4" name="Rectángulo"/>
          <p:cNvSpPr>
            <a:spLocks/>
          </p:cNvSpPr>
          <p:nvPr/>
        </p:nvSpPr>
        <p:spPr>
          <a:xfrm rot="0">
            <a:off x="868680" y="3364992"/>
            <a:ext cx="521208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arr[5] = 7;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// ERROR: fuera de rango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Rectángulo"/>
          <p:cNvSpPr>
            <a:spLocks/>
          </p:cNvSpPr>
          <p:nvPr/>
        </p:nvSpPr>
        <p:spPr>
          <a:xfrm rot="0">
            <a:off x="548640" y="4480560"/>
            <a:ext cx="2743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Ventajas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6" name="Óvalo"/>
          <p:cNvSpPr>
            <a:spLocks/>
          </p:cNvSpPr>
          <p:nvPr/>
        </p:nvSpPr>
        <p:spPr>
          <a:xfrm rot="0">
            <a:off x="548640" y="4946904"/>
            <a:ext cx="128015" cy="128015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217" name="Rectángulo"/>
          <p:cNvSpPr>
            <a:spLocks/>
          </p:cNvSpPr>
          <p:nvPr/>
        </p:nvSpPr>
        <p:spPr>
          <a:xfrm rot="0">
            <a:off x="822960" y="4818888"/>
            <a:ext cx="52120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Uso de memoria predecible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8" name="Óvalo"/>
          <p:cNvSpPr>
            <a:spLocks/>
          </p:cNvSpPr>
          <p:nvPr/>
        </p:nvSpPr>
        <p:spPr>
          <a:xfrm rot="0">
            <a:off x="548640" y="5404104"/>
            <a:ext cx="128015" cy="128015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219" name="Rectángulo"/>
          <p:cNvSpPr>
            <a:spLocks/>
          </p:cNvSpPr>
          <p:nvPr/>
        </p:nvSpPr>
        <p:spPr>
          <a:xfrm rot="0">
            <a:off x="822960" y="5276088"/>
            <a:ext cx="52120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Acceso siempre O(1)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0" name="Rectángulo redondeado"/>
          <p:cNvSpPr>
            <a:spLocks/>
          </p:cNvSpPr>
          <p:nvPr/>
        </p:nvSpPr>
        <p:spPr>
          <a:xfrm rot="0">
            <a:off x="6675120" y="1828800"/>
            <a:ext cx="4937760" cy="4114800"/>
          </a:xfrm>
          <a:prstGeom prst="roundRect">
            <a:avLst>
              <a:gd name="adj" fmla="val 1777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221" name="Rectángulo"/>
          <p:cNvSpPr>
            <a:spLocks/>
          </p:cNvSpPr>
          <p:nvPr/>
        </p:nvSpPr>
        <p:spPr>
          <a:xfrm rot="0">
            <a:off x="7040880" y="2103120"/>
            <a:ext cx="420624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Limitaciones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2" name="Óvalo"/>
          <p:cNvSpPr>
            <a:spLocks/>
          </p:cNvSpPr>
          <p:nvPr/>
        </p:nvSpPr>
        <p:spPr>
          <a:xfrm rot="0">
            <a:off x="7040880" y="270662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223" name="Rectángulo"/>
          <p:cNvSpPr>
            <a:spLocks/>
          </p:cNvSpPr>
          <p:nvPr/>
        </p:nvSpPr>
        <p:spPr>
          <a:xfrm rot="0">
            <a:off x="7315200" y="2578608"/>
            <a:ext cx="4023359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El tamaño se fija al crearlo: no crece ni se encoge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4" name="Óvalo"/>
          <p:cNvSpPr>
            <a:spLocks/>
          </p:cNvSpPr>
          <p:nvPr/>
        </p:nvSpPr>
        <p:spPr>
          <a:xfrm rot="0">
            <a:off x="7040880" y="3483863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225" name="Rectángulo"/>
          <p:cNvSpPr>
            <a:spLocks/>
          </p:cNvSpPr>
          <p:nvPr/>
        </p:nvSpPr>
        <p:spPr>
          <a:xfrm rot="0">
            <a:off x="7315200" y="3355848"/>
            <a:ext cx="4023359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 reservan de más, desperdician memoria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6" name="Óvalo"/>
          <p:cNvSpPr>
            <a:spLocks/>
          </p:cNvSpPr>
          <p:nvPr/>
        </p:nvSpPr>
        <p:spPr>
          <a:xfrm rot="0">
            <a:off x="7040880" y="426110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227" name="Rectángulo"/>
          <p:cNvSpPr>
            <a:spLocks/>
          </p:cNvSpPr>
          <p:nvPr/>
        </p:nvSpPr>
        <p:spPr>
          <a:xfrm rot="0">
            <a:off x="7315200" y="4133088"/>
            <a:ext cx="4023359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 reservan de menos, el programa falla o hay que crear uno nuevo y copiar todo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8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754998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El dilema del tamaño fijo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3" name="Rectángulo"/>
          <p:cNvSpPr>
            <a:spLocks/>
          </p:cNvSpPr>
          <p:nvPr/>
        </p:nvSpPr>
        <p:spPr>
          <a:xfrm rot="0">
            <a:off x="548640" y="1554480"/>
            <a:ext cx="105156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Al crear un array estático hay que decidir el tamaño de antemano. Cualquier decisión tiene un costo.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4" name="Rectángulo"/>
          <p:cNvSpPr>
            <a:spLocks/>
          </p:cNvSpPr>
          <p:nvPr/>
        </p:nvSpPr>
        <p:spPr>
          <a:xfrm rot="0">
            <a:off x="548640" y="2286000"/>
            <a:ext cx="5029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Reservar de más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5" name="Rectángulo"/>
          <p:cNvSpPr>
            <a:spLocks/>
          </p:cNvSpPr>
          <p:nvPr/>
        </p:nvSpPr>
        <p:spPr>
          <a:xfrm rot="0">
            <a:off x="548640" y="2697480"/>
            <a:ext cx="457200" cy="594359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36" name="Rectángulo"/>
          <p:cNvSpPr>
            <a:spLocks/>
          </p:cNvSpPr>
          <p:nvPr/>
        </p:nvSpPr>
        <p:spPr>
          <a:xfrm rot="0">
            <a:off x="548640" y="2697480"/>
            <a:ext cx="45720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7" name="Rectángulo"/>
          <p:cNvSpPr>
            <a:spLocks/>
          </p:cNvSpPr>
          <p:nvPr/>
        </p:nvSpPr>
        <p:spPr>
          <a:xfrm rot="0">
            <a:off x="1078992" y="2697480"/>
            <a:ext cx="457200" cy="594359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38" name="Rectángulo"/>
          <p:cNvSpPr>
            <a:spLocks/>
          </p:cNvSpPr>
          <p:nvPr/>
        </p:nvSpPr>
        <p:spPr>
          <a:xfrm rot="0">
            <a:off x="1078992" y="2697480"/>
            <a:ext cx="45720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9" name="Rectángulo"/>
          <p:cNvSpPr>
            <a:spLocks/>
          </p:cNvSpPr>
          <p:nvPr/>
        </p:nvSpPr>
        <p:spPr>
          <a:xfrm rot="0">
            <a:off x="1609344" y="2697480"/>
            <a:ext cx="457200" cy="594359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40" name="Rectángulo"/>
          <p:cNvSpPr>
            <a:spLocks/>
          </p:cNvSpPr>
          <p:nvPr/>
        </p:nvSpPr>
        <p:spPr>
          <a:xfrm rot="0">
            <a:off x="1609344" y="2697480"/>
            <a:ext cx="45720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1" name="Rectángulo"/>
          <p:cNvSpPr>
            <a:spLocks/>
          </p:cNvSpPr>
          <p:nvPr/>
        </p:nvSpPr>
        <p:spPr>
          <a:xfrm rot="0">
            <a:off x="2139696" y="2697480"/>
            <a:ext cx="457200" cy="594359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42" name="Rectángulo"/>
          <p:cNvSpPr>
            <a:spLocks/>
          </p:cNvSpPr>
          <p:nvPr/>
        </p:nvSpPr>
        <p:spPr>
          <a:xfrm rot="0">
            <a:off x="2670048" y="2697480"/>
            <a:ext cx="457200" cy="594359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43" name="Rectángulo"/>
          <p:cNvSpPr>
            <a:spLocks/>
          </p:cNvSpPr>
          <p:nvPr/>
        </p:nvSpPr>
        <p:spPr>
          <a:xfrm rot="0">
            <a:off x="3200400" y="2697480"/>
            <a:ext cx="457200" cy="594359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44" name="Rectángulo"/>
          <p:cNvSpPr>
            <a:spLocks/>
          </p:cNvSpPr>
          <p:nvPr/>
        </p:nvSpPr>
        <p:spPr>
          <a:xfrm rot="0">
            <a:off x="3730752" y="2697480"/>
            <a:ext cx="457200" cy="594359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45" name="Rectángulo"/>
          <p:cNvSpPr>
            <a:spLocks/>
          </p:cNvSpPr>
          <p:nvPr/>
        </p:nvSpPr>
        <p:spPr>
          <a:xfrm rot="0">
            <a:off x="4261104" y="2697480"/>
            <a:ext cx="457200" cy="594359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46" name="Rectángulo"/>
          <p:cNvSpPr>
            <a:spLocks/>
          </p:cNvSpPr>
          <p:nvPr/>
        </p:nvSpPr>
        <p:spPr>
          <a:xfrm rot="0">
            <a:off x="4791456" y="2697480"/>
            <a:ext cx="457200" cy="594359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47" name="Rectángulo"/>
          <p:cNvSpPr>
            <a:spLocks/>
          </p:cNvSpPr>
          <p:nvPr/>
        </p:nvSpPr>
        <p:spPr>
          <a:xfrm rot="0">
            <a:off x="5321808" y="2697480"/>
            <a:ext cx="457200" cy="594359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48" name="Rectángulo"/>
          <p:cNvSpPr>
            <a:spLocks/>
          </p:cNvSpPr>
          <p:nvPr/>
        </p:nvSpPr>
        <p:spPr>
          <a:xfrm rot="0">
            <a:off x="548640" y="3474720"/>
            <a:ext cx="5303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arr[10]  →  usan solo 3  →  7 espacios desperdiciados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9" name="Rectángulo"/>
          <p:cNvSpPr>
            <a:spLocks/>
          </p:cNvSpPr>
          <p:nvPr/>
        </p:nvSpPr>
        <p:spPr>
          <a:xfrm rot="0">
            <a:off x="6675120" y="2286000"/>
            <a:ext cx="49377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Reservar de menos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0" name="Rectángulo"/>
          <p:cNvSpPr>
            <a:spLocks/>
          </p:cNvSpPr>
          <p:nvPr/>
        </p:nvSpPr>
        <p:spPr>
          <a:xfrm rot="0">
            <a:off x="6675120" y="2697480"/>
            <a:ext cx="685800" cy="685800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51" name="Rectángulo"/>
          <p:cNvSpPr>
            <a:spLocks/>
          </p:cNvSpPr>
          <p:nvPr/>
        </p:nvSpPr>
        <p:spPr>
          <a:xfrm rot="0">
            <a:off x="6675120" y="2697480"/>
            <a:ext cx="68580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2" name="Rectángulo"/>
          <p:cNvSpPr>
            <a:spLocks/>
          </p:cNvSpPr>
          <p:nvPr/>
        </p:nvSpPr>
        <p:spPr>
          <a:xfrm rot="0">
            <a:off x="7452360" y="2697480"/>
            <a:ext cx="685800" cy="685800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53" name="Rectángulo"/>
          <p:cNvSpPr>
            <a:spLocks/>
          </p:cNvSpPr>
          <p:nvPr/>
        </p:nvSpPr>
        <p:spPr>
          <a:xfrm rot="0">
            <a:off x="7452360" y="2697480"/>
            <a:ext cx="68580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4" name="Rectángulo"/>
          <p:cNvSpPr>
            <a:spLocks/>
          </p:cNvSpPr>
          <p:nvPr/>
        </p:nvSpPr>
        <p:spPr>
          <a:xfrm rot="0">
            <a:off x="8229600" y="2697480"/>
            <a:ext cx="685800" cy="685800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55" name="Rectángulo"/>
          <p:cNvSpPr>
            <a:spLocks/>
          </p:cNvSpPr>
          <p:nvPr/>
        </p:nvSpPr>
        <p:spPr>
          <a:xfrm rot="0">
            <a:off x="8229600" y="2697480"/>
            <a:ext cx="68580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6" name="Rectángulo"/>
          <p:cNvSpPr>
            <a:spLocks/>
          </p:cNvSpPr>
          <p:nvPr/>
        </p:nvSpPr>
        <p:spPr>
          <a:xfrm rot="0">
            <a:off x="9006840" y="2697480"/>
            <a:ext cx="685800" cy="685800"/>
          </a:xfrm>
          <a:prstGeom prst="rect"/>
          <a:solidFill>
            <a:srgbClr val="8A2C2C"/>
          </a:solidFill>
          <a:ln w="19050" cmpd="sng" cap="flat">
            <a:solidFill>
              <a:srgbClr val="D64545"/>
            </a:solidFill>
            <a:prstDash val="solid"/>
            <a:round/>
          </a:ln>
        </p:spPr>
      </p:sp>
      <p:sp>
        <p:nvSpPr>
          <p:cNvPr id="257" name="Rectángulo"/>
          <p:cNvSpPr>
            <a:spLocks/>
          </p:cNvSpPr>
          <p:nvPr/>
        </p:nvSpPr>
        <p:spPr>
          <a:xfrm rot="0">
            <a:off x="9006840" y="2697480"/>
            <a:ext cx="68580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✕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8" name="Rectángulo"/>
          <p:cNvSpPr>
            <a:spLocks/>
          </p:cNvSpPr>
          <p:nvPr/>
        </p:nvSpPr>
        <p:spPr>
          <a:xfrm rot="0">
            <a:off x="6675120" y="3474720"/>
            <a:ext cx="51206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arr[3] = 7  →  necesitan un 4.º elemento y no hay espacio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9" name="Rectángulo redondeado"/>
          <p:cNvSpPr>
            <a:spLocks/>
          </p:cNvSpPr>
          <p:nvPr/>
        </p:nvSpPr>
        <p:spPr>
          <a:xfrm rot="0">
            <a:off x="548640" y="429768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2B3574"/>
          </a:solidFill>
          <a:ln w="12700" cmpd="sng" cap="flat">
            <a:noFill/>
            <a:prstDash val="solid"/>
            <a:miter/>
          </a:ln>
        </p:spPr>
      </p:sp>
      <p:sp>
        <p:nvSpPr>
          <p:cNvPr id="260" name="Rectángulo"/>
          <p:cNvSpPr>
            <a:spLocks/>
          </p:cNvSpPr>
          <p:nvPr/>
        </p:nvSpPr>
        <p:spPr>
          <a:xfrm rot="0">
            <a:off x="914400" y="4297680"/>
            <a:ext cx="10332720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 un array estático no hay término medio: o se desperdicia memoria "por si acaso", o se corre el riesgo de quedarse sin espacio. Cuando no se conoce el tamaño exacto de antemano, conviene un array dinámico.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1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5712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Comprobación: array estático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6" name="Rectángulo redondeado"/>
          <p:cNvSpPr>
            <a:spLocks/>
          </p:cNvSpPr>
          <p:nvPr/>
        </p:nvSpPr>
        <p:spPr>
          <a:xfrm rot="0">
            <a:off x="548640" y="1920240"/>
            <a:ext cx="11064240" cy="868679"/>
          </a:xfrm>
          <a:prstGeom prst="roundRect">
            <a:avLst>
              <a:gd name="adj" fmla="val 6314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267" name="Óvalo"/>
          <p:cNvSpPr>
            <a:spLocks/>
          </p:cNvSpPr>
          <p:nvPr/>
        </p:nvSpPr>
        <p:spPr>
          <a:xfrm rot="0">
            <a:off x="822960" y="212598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268" name="Rectángulo"/>
          <p:cNvSpPr>
            <a:spLocks/>
          </p:cNvSpPr>
          <p:nvPr/>
        </p:nvSpPr>
        <p:spPr>
          <a:xfrm rot="0">
            <a:off x="822960" y="212598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9" name="Rectángulo"/>
          <p:cNvSpPr>
            <a:spLocks/>
          </p:cNvSpPr>
          <p:nvPr/>
        </p:nvSpPr>
        <p:spPr>
          <a:xfrm rot="0">
            <a:off x="1554480" y="1920240"/>
            <a:ext cx="9784080" cy="868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¿En qué situaciones tiene sentido usar un array estático a pesar de su limitación de tamaño?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0" name="Rectángulo redondeado"/>
          <p:cNvSpPr>
            <a:spLocks/>
          </p:cNvSpPr>
          <p:nvPr/>
        </p:nvSpPr>
        <p:spPr>
          <a:xfrm rot="0">
            <a:off x="548640" y="2971799"/>
            <a:ext cx="11064240" cy="868680"/>
          </a:xfrm>
          <a:prstGeom prst="roundRect">
            <a:avLst>
              <a:gd name="adj" fmla="val 6314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271" name="Óvalo"/>
          <p:cNvSpPr>
            <a:spLocks/>
          </p:cNvSpPr>
          <p:nvPr/>
        </p:nvSpPr>
        <p:spPr>
          <a:xfrm rot="0">
            <a:off x="822960" y="31775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272" name="Rectángulo"/>
          <p:cNvSpPr>
            <a:spLocks/>
          </p:cNvSpPr>
          <p:nvPr/>
        </p:nvSpPr>
        <p:spPr>
          <a:xfrm rot="0">
            <a:off x="822960" y="31775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3" name="Rectángulo"/>
          <p:cNvSpPr>
            <a:spLocks/>
          </p:cNvSpPr>
          <p:nvPr/>
        </p:nvSpPr>
        <p:spPr>
          <a:xfrm rot="0">
            <a:off x="1554480" y="2971799"/>
            <a:ext cx="978408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 declaran int arr[20] pero solo necesitan 5 elementos, ¿qué están sacrificando?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8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957504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Array dinámico: ¿cómo crece por dentro?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3" name="Rectángulo"/>
          <p:cNvSpPr>
            <a:spLocks/>
          </p:cNvSpPr>
          <p:nvPr/>
        </p:nvSpPr>
        <p:spPr>
          <a:xfrm rot="0">
            <a:off x="548640" y="1691639"/>
            <a:ext cx="73152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1. El array está lleno (capacidad = 4)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4" name="Rectángulo"/>
          <p:cNvSpPr>
            <a:spLocks/>
          </p:cNvSpPr>
          <p:nvPr/>
        </p:nvSpPr>
        <p:spPr>
          <a:xfrm rot="0">
            <a:off x="3291840" y="2011679"/>
            <a:ext cx="777240" cy="68579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285" name="Rectángulo"/>
          <p:cNvSpPr>
            <a:spLocks/>
          </p:cNvSpPr>
          <p:nvPr/>
        </p:nvSpPr>
        <p:spPr>
          <a:xfrm rot="0">
            <a:off x="3291840" y="2011679"/>
            <a:ext cx="777240" cy="685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6" name="Rectángulo"/>
          <p:cNvSpPr>
            <a:spLocks/>
          </p:cNvSpPr>
          <p:nvPr/>
        </p:nvSpPr>
        <p:spPr>
          <a:xfrm rot="0">
            <a:off x="4160520" y="2011679"/>
            <a:ext cx="777240" cy="68579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287" name="Rectángulo"/>
          <p:cNvSpPr>
            <a:spLocks/>
          </p:cNvSpPr>
          <p:nvPr/>
        </p:nvSpPr>
        <p:spPr>
          <a:xfrm rot="0">
            <a:off x="4160520" y="2011679"/>
            <a:ext cx="777240" cy="685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8" name="Rectángulo"/>
          <p:cNvSpPr>
            <a:spLocks/>
          </p:cNvSpPr>
          <p:nvPr/>
        </p:nvSpPr>
        <p:spPr>
          <a:xfrm rot="0">
            <a:off x="5029200" y="2011679"/>
            <a:ext cx="777240" cy="68579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289" name="Rectángulo"/>
          <p:cNvSpPr>
            <a:spLocks/>
          </p:cNvSpPr>
          <p:nvPr/>
        </p:nvSpPr>
        <p:spPr>
          <a:xfrm rot="0">
            <a:off x="5029200" y="2011679"/>
            <a:ext cx="777240" cy="685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0" name="Rectángulo"/>
          <p:cNvSpPr>
            <a:spLocks/>
          </p:cNvSpPr>
          <p:nvPr/>
        </p:nvSpPr>
        <p:spPr>
          <a:xfrm rot="0">
            <a:off x="5897880" y="2011679"/>
            <a:ext cx="777240" cy="68579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291" name="Rectángulo"/>
          <p:cNvSpPr>
            <a:spLocks/>
          </p:cNvSpPr>
          <p:nvPr/>
        </p:nvSpPr>
        <p:spPr>
          <a:xfrm rot="0">
            <a:off x="5897880" y="2011679"/>
            <a:ext cx="777240" cy="685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2" name="Rectángulo"/>
          <p:cNvSpPr>
            <a:spLocks/>
          </p:cNvSpPr>
          <p:nvPr/>
        </p:nvSpPr>
        <p:spPr>
          <a:xfrm rot="0">
            <a:off x="548640" y="2926080"/>
            <a:ext cx="7315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2. Se reserva un nuevo bloque con el doble de capacidad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3" name="Rectángulo"/>
          <p:cNvSpPr>
            <a:spLocks/>
          </p:cNvSpPr>
          <p:nvPr/>
        </p:nvSpPr>
        <p:spPr>
          <a:xfrm rot="0">
            <a:off x="3291840" y="324612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94" name="Rectángulo"/>
          <p:cNvSpPr>
            <a:spLocks/>
          </p:cNvSpPr>
          <p:nvPr/>
        </p:nvSpPr>
        <p:spPr>
          <a:xfrm rot="0">
            <a:off x="4160520" y="324612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95" name="Rectángulo"/>
          <p:cNvSpPr>
            <a:spLocks/>
          </p:cNvSpPr>
          <p:nvPr/>
        </p:nvSpPr>
        <p:spPr>
          <a:xfrm rot="0">
            <a:off x="5029200" y="324612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96" name="Rectángulo"/>
          <p:cNvSpPr>
            <a:spLocks/>
          </p:cNvSpPr>
          <p:nvPr/>
        </p:nvSpPr>
        <p:spPr>
          <a:xfrm rot="0">
            <a:off x="5897880" y="324612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97" name="Rectángulo"/>
          <p:cNvSpPr>
            <a:spLocks/>
          </p:cNvSpPr>
          <p:nvPr/>
        </p:nvSpPr>
        <p:spPr>
          <a:xfrm rot="0">
            <a:off x="6766559" y="324612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98" name="Rectángulo"/>
          <p:cNvSpPr>
            <a:spLocks/>
          </p:cNvSpPr>
          <p:nvPr/>
        </p:nvSpPr>
        <p:spPr>
          <a:xfrm rot="0">
            <a:off x="7635240" y="324612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299" name="Rectángulo"/>
          <p:cNvSpPr>
            <a:spLocks/>
          </p:cNvSpPr>
          <p:nvPr/>
        </p:nvSpPr>
        <p:spPr>
          <a:xfrm rot="0">
            <a:off x="8503920" y="324612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00" name="Rectángulo"/>
          <p:cNvSpPr>
            <a:spLocks/>
          </p:cNvSpPr>
          <p:nvPr/>
        </p:nvSpPr>
        <p:spPr>
          <a:xfrm rot="0">
            <a:off x="9372600" y="324612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01" name="Rectángulo"/>
          <p:cNvSpPr>
            <a:spLocks/>
          </p:cNvSpPr>
          <p:nvPr/>
        </p:nvSpPr>
        <p:spPr>
          <a:xfrm rot="0">
            <a:off x="10424161" y="3246120"/>
            <a:ext cx="164591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capacidad = 8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2" name="Rectángulo"/>
          <p:cNvSpPr>
            <a:spLocks/>
          </p:cNvSpPr>
          <p:nvPr/>
        </p:nvSpPr>
        <p:spPr>
          <a:xfrm rot="0">
            <a:off x="548640" y="4160520"/>
            <a:ext cx="7315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3. Se copian los elementos existentes y se agrega el nuevo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3" name="Rectángulo"/>
          <p:cNvSpPr>
            <a:spLocks/>
          </p:cNvSpPr>
          <p:nvPr/>
        </p:nvSpPr>
        <p:spPr>
          <a:xfrm rot="0">
            <a:off x="3291840" y="4480560"/>
            <a:ext cx="777240" cy="685800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04" name="Rectángulo"/>
          <p:cNvSpPr>
            <a:spLocks/>
          </p:cNvSpPr>
          <p:nvPr/>
        </p:nvSpPr>
        <p:spPr>
          <a:xfrm rot="0">
            <a:off x="3291840" y="4480560"/>
            <a:ext cx="7772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5" name="Rectángulo"/>
          <p:cNvSpPr>
            <a:spLocks/>
          </p:cNvSpPr>
          <p:nvPr/>
        </p:nvSpPr>
        <p:spPr>
          <a:xfrm rot="0">
            <a:off x="4160520" y="4480560"/>
            <a:ext cx="777240" cy="685800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06" name="Rectángulo"/>
          <p:cNvSpPr>
            <a:spLocks/>
          </p:cNvSpPr>
          <p:nvPr/>
        </p:nvSpPr>
        <p:spPr>
          <a:xfrm rot="0">
            <a:off x="4160520" y="4480560"/>
            <a:ext cx="7772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7" name="Rectángulo"/>
          <p:cNvSpPr>
            <a:spLocks/>
          </p:cNvSpPr>
          <p:nvPr/>
        </p:nvSpPr>
        <p:spPr>
          <a:xfrm rot="0">
            <a:off x="5029200" y="4480560"/>
            <a:ext cx="777240" cy="685800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08" name="Rectángulo"/>
          <p:cNvSpPr>
            <a:spLocks/>
          </p:cNvSpPr>
          <p:nvPr/>
        </p:nvSpPr>
        <p:spPr>
          <a:xfrm rot="0">
            <a:off x="5029200" y="4480560"/>
            <a:ext cx="7772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9" name="Rectángulo"/>
          <p:cNvSpPr>
            <a:spLocks/>
          </p:cNvSpPr>
          <p:nvPr/>
        </p:nvSpPr>
        <p:spPr>
          <a:xfrm rot="0">
            <a:off x="5897880" y="4480560"/>
            <a:ext cx="777240" cy="685800"/>
          </a:xfrm>
          <a:prstGeom prst="rect"/>
          <a:solidFill>
            <a:srgbClr val="FFFFFF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10" name="Rectángulo"/>
          <p:cNvSpPr>
            <a:spLocks/>
          </p:cNvSpPr>
          <p:nvPr/>
        </p:nvSpPr>
        <p:spPr>
          <a:xfrm rot="0">
            <a:off x="5897880" y="4480560"/>
            <a:ext cx="7772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1" name="Rectángulo"/>
          <p:cNvSpPr>
            <a:spLocks/>
          </p:cNvSpPr>
          <p:nvPr/>
        </p:nvSpPr>
        <p:spPr>
          <a:xfrm rot="0">
            <a:off x="6766559" y="4480560"/>
            <a:ext cx="777240" cy="685800"/>
          </a:xfrm>
          <a:prstGeom prst="rect"/>
          <a:solidFill>
            <a:srgbClr val="FFC145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12" name="Rectángulo"/>
          <p:cNvSpPr>
            <a:spLocks/>
          </p:cNvSpPr>
          <p:nvPr/>
        </p:nvSpPr>
        <p:spPr>
          <a:xfrm rot="0">
            <a:off x="6766559" y="4480560"/>
            <a:ext cx="77724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3" name="Rectángulo"/>
          <p:cNvSpPr>
            <a:spLocks/>
          </p:cNvSpPr>
          <p:nvPr/>
        </p:nvSpPr>
        <p:spPr>
          <a:xfrm rot="0">
            <a:off x="7635240" y="448056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14" name="Rectángulo"/>
          <p:cNvSpPr>
            <a:spLocks/>
          </p:cNvSpPr>
          <p:nvPr/>
        </p:nvSpPr>
        <p:spPr>
          <a:xfrm rot="0">
            <a:off x="8503920" y="448056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15" name="Rectángulo"/>
          <p:cNvSpPr>
            <a:spLocks/>
          </p:cNvSpPr>
          <p:nvPr/>
        </p:nvSpPr>
        <p:spPr>
          <a:xfrm rot="0">
            <a:off x="9372600" y="4480560"/>
            <a:ext cx="777240" cy="685800"/>
          </a:xfrm>
          <a:prstGeom prst="rect"/>
          <a:solidFill>
            <a:srgbClr val="2B3574"/>
          </a:solidFill>
          <a:ln w="19050" cmpd="sng" cap="flat">
            <a:solidFill>
              <a:srgbClr val="CADCFC"/>
            </a:solidFill>
            <a:prstDash val="solid"/>
            <a:round/>
          </a:ln>
        </p:spPr>
      </p:sp>
      <p:sp>
        <p:nvSpPr>
          <p:cNvPr id="316" name="Rectángulo"/>
          <p:cNvSpPr>
            <a:spLocks/>
          </p:cNvSpPr>
          <p:nvPr/>
        </p:nvSpPr>
        <p:spPr>
          <a:xfrm rot="0">
            <a:off x="10424161" y="4480560"/>
            <a:ext cx="164591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tamaño = 5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7" name="Rectángulo"/>
          <p:cNvSpPr>
            <a:spLocks/>
          </p:cNvSpPr>
          <p:nvPr/>
        </p:nvSpPr>
        <p:spPr>
          <a:xfrm rot="0">
            <a:off x="548640" y="5440679"/>
            <a:ext cx="10881359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Este proceso (reservar + copiar) cuesta O(n), pero ocurre pocas veces. El resto de las inserciones son O(1).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8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299229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Capacidad vs. tamaño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3" name="Rectángulo"/>
          <p:cNvSpPr>
            <a:spLocks/>
          </p:cNvSpPr>
          <p:nvPr/>
        </p:nvSpPr>
        <p:spPr>
          <a:xfrm rot="0">
            <a:off x="548640" y="1600200"/>
            <a:ext cx="91440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 array dinámico maneja dos números distintos por dentro: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4" name="Rectángulo"/>
          <p:cNvSpPr>
            <a:spLocks/>
          </p:cNvSpPr>
          <p:nvPr/>
        </p:nvSpPr>
        <p:spPr>
          <a:xfrm rot="0">
            <a:off x="1371600" y="2286000"/>
            <a:ext cx="1005839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25" name="Rectángulo"/>
          <p:cNvSpPr>
            <a:spLocks/>
          </p:cNvSpPr>
          <p:nvPr/>
        </p:nvSpPr>
        <p:spPr>
          <a:xfrm rot="0">
            <a:off x="1371600" y="2286000"/>
            <a:ext cx="100583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6" name="Rectángulo"/>
          <p:cNvSpPr>
            <a:spLocks/>
          </p:cNvSpPr>
          <p:nvPr/>
        </p:nvSpPr>
        <p:spPr>
          <a:xfrm rot="0">
            <a:off x="2468880" y="2286000"/>
            <a:ext cx="1005839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27" name="Rectángulo"/>
          <p:cNvSpPr>
            <a:spLocks/>
          </p:cNvSpPr>
          <p:nvPr/>
        </p:nvSpPr>
        <p:spPr>
          <a:xfrm rot="0">
            <a:off x="2468880" y="2286000"/>
            <a:ext cx="100583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8" name="Rectángulo"/>
          <p:cNvSpPr>
            <a:spLocks/>
          </p:cNvSpPr>
          <p:nvPr/>
        </p:nvSpPr>
        <p:spPr>
          <a:xfrm rot="0">
            <a:off x="3566160" y="2286000"/>
            <a:ext cx="1005839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29" name="Rectángulo"/>
          <p:cNvSpPr>
            <a:spLocks/>
          </p:cNvSpPr>
          <p:nvPr/>
        </p:nvSpPr>
        <p:spPr>
          <a:xfrm rot="0">
            <a:off x="3566160" y="2286000"/>
            <a:ext cx="100583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0" name="Rectángulo"/>
          <p:cNvSpPr>
            <a:spLocks/>
          </p:cNvSpPr>
          <p:nvPr/>
        </p:nvSpPr>
        <p:spPr>
          <a:xfrm rot="0">
            <a:off x="4663440" y="2286000"/>
            <a:ext cx="1005839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31" name="Rectángulo"/>
          <p:cNvSpPr>
            <a:spLocks/>
          </p:cNvSpPr>
          <p:nvPr/>
        </p:nvSpPr>
        <p:spPr>
          <a:xfrm rot="0">
            <a:off x="4663440" y="2286000"/>
            <a:ext cx="100583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2" name="Rectángulo"/>
          <p:cNvSpPr>
            <a:spLocks/>
          </p:cNvSpPr>
          <p:nvPr/>
        </p:nvSpPr>
        <p:spPr>
          <a:xfrm rot="0">
            <a:off x="5760720" y="2286000"/>
            <a:ext cx="100584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33" name="Rectángulo"/>
          <p:cNvSpPr>
            <a:spLocks/>
          </p:cNvSpPr>
          <p:nvPr/>
        </p:nvSpPr>
        <p:spPr>
          <a:xfrm rot="0">
            <a:off x="5760720" y="2286000"/>
            <a:ext cx="100584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4" name="Rectángulo"/>
          <p:cNvSpPr>
            <a:spLocks/>
          </p:cNvSpPr>
          <p:nvPr/>
        </p:nvSpPr>
        <p:spPr>
          <a:xfrm rot="0">
            <a:off x="6858000" y="2286000"/>
            <a:ext cx="1005840" cy="822959"/>
          </a:xfrm>
          <a:prstGeom prst="rect"/>
          <a:solidFill>
            <a:srgbClr val="EEF2FC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35" name="Rectángulo"/>
          <p:cNvSpPr>
            <a:spLocks/>
          </p:cNvSpPr>
          <p:nvPr/>
        </p:nvSpPr>
        <p:spPr>
          <a:xfrm rot="0">
            <a:off x="7955280" y="2286000"/>
            <a:ext cx="1005840" cy="822959"/>
          </a:xfrm>
          <a:prstGeom prst="rect"/>
          <a:solidFill>
            <a:srgbClr val="EEF2FC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36" name="Rectángulo"/>
          <p:cNvSpPr>
            <a:spLocks/>
          </p:cNvSpPr>
          <p:nvPr/>
        </p:nvSpPr>
        <p:spPr>
          <a:xfrm rot="0">
            <a:off x="9052560" y="2286000"/>
            <a:ext cx="1005840" cy="822959"/>
          </a:xfrm>
          <a:prstGeom prst="rect"/>
          <a:solidFill>
            <a:srgbClr val="EEF2FC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37" name="Línea recta"/>
          <p:cNvSpPr>
            <a:spLocks/>
          </p:cNvSpPr>
          <p:nvPr/>
        </p:nvSpPr>
        <p:spPr>
          <a:xfrm rot="0">
            <a:off x="1371600" y="3337560"/>
            <a:ext cx="539496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</a:ln>
        </p:spPr>
      </p:sp>
      <p:sp>
        <p:nvSpPr>
          <p:cNvPr id="338" name="Línea recta"/>
          <p:cNvSpPr>
            <a:spLocks/>
          </p:cNvSpPr>
          <p:nvPr/>
        </p:nvSpPr>
        <p:spPr>
          <a:xfrm rot="0">
            <a:off x="1371600" y="3246120"/>
            <a:ext cx="914" cy="182879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</a:ln>
        </p:spPr>
      </p:sp>
      <p:sp>
        <p:nvSpPr>
          <p:cNvPr id="339" name="Línea recta"/>
          <p:cNvSpPr>
            <a:spLocks/>
          </p:cNvSpPr>
          <p:nvPr/>
        </p:nvSpPr>
        <p:spPr>
          <a:xfrm rot="0">
            <a:off x="6766559" y="3246120"/>
            <a:ext cx="913" cy="182879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</a:ln>
        </p:spPr>
      </p:sp>
      <p:sp>
        <p:nvSpPr>
          <p:cNvPr id="340" name="Rectángulo"/>
          <p:cNvSpPr>
            <a:spLocks/>
          </p:cNvSpPr>
          <p:nvPr/>
        </p:nvSpPr>
        <p:spPr>
          <a:xfrm rot="0">
            <a:off x="1371600" y="3429000"/>
            <a:ext cx="53949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tamaño (len) = 5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1" name="Línea recta"/>
          <p:cNvSpPr>
            <a:spLocks/>
          </p:cNvSpPr>
          <p:nvPr/>
        </p:nvSpPr>
        <p:spPr>
          <a:xfrm rot="0">
            <a:off x="1371600" y="3977640"/>
            <a:ext cx="8686800" cy="913"/>
          </a:xfrm>
          <a:prstGeom prst="line"/>
          <a:noFill/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42" name="Línea recta"/>
          <p:cNvSpPr>
            <a:spLocks/>
          </p:cNvSpPr>
          <p:nvPr/>
        </p:nvSpPr>
        <p:spPr>
          <a:xfrm rot="0">
            <a:off x="1371600" y="3886200"/>
            <a:ext cx="914" cy="182879"/>
          </a:xfrm>
          <a:prstGeom prst="line"/>
          <a:noFill/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43" name="Línea recta"/>
          <p:cNvSpPr>
            <a:spLocks/>
          </p:cNvSpPr>
          <p:nvPr/>
        </p:nvSpPr>
        <p:spPr>
          <a:xfrm rot="0">
            <a:off x="10058401" y="3886200"/>
            <a:ext cx="913" cy="182879"/>
          </a:xfrm>
          <a:prstGeom prst="line"/>
          <a:noFill/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344" name="Rectángulo"/>
          <p:cNvSpPr>
            <a:spLocks/>
          </p:cNvSpPr>
          <p:nvPr/>
        </p:nvSpPr>
        <p:spPr>
          <a:xfrm rot="0">
            <a:off x="1371600" y="4069080"/>
            <a:ext cx="86868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capacidad = 8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5" name="Rectángulo"/>
          <p:cNvSpPr>
            <a:spLocks/>
          </p:cNvSpPr>
          <p:nvPr/>
        </p:nvSpPr>
        <p:spPr>
          <a:xfrm rot="0">
            <a:off x="548640" y="5394960"/>
            <a:ext cx="10972800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 Python, len(arr) devuelve el tamaño (5), no la capacidad. La capacidad es un detalle interno que CPython administra para que append() sea rápido casi siempre.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6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854211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¿Por qué duplicar la capacidad?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1" name="Rectángulo"/>
          <p:cNvSpPr>
            <a:spLocks/>
          </p:cNvSpPr>
          <p:nvPr/>
        </p:nvSpPr>
        <p:spPr>
          <a:xfrm rot="0">
            <a:off x="548640" y="1600200"/>
            <a:ext cx="105156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Comparación de estrategias de crecimiento para llegar a 1.000 elementos: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352" name="Hoja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548640" y="2103120"/>
          <a:ext cx="11064240" cy="1828799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743187"/>
                <a:gridCol w="2743187"/>
                <a:gridCol w="3108947"/>
                <a:gridCol w="2468854"/>
              </a:tblGrid>
              <a:tr h="60959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Estrategia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Redimensionamientos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Elementos copiados en total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Costo amortizado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959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Sumar 1 cada vez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~1.000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≈ 500.000  (n²/2)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D64545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O(n)  ✕ malo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0959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Duplicar capacidad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~10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≈ 2.000  (2n)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1F7A3D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O(1)  ✓ bueno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3" name="Óvalo"/>
          <p:cNvSpPr>
            <a:spLocks/>
          </p:cNvSpPr>
          <p:nvPr/>
        </p:nvSpPr>
        <p:spPr>
          <a:xfrm rot="0">
            <a:off x="548640" y="435254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54" name="Rectángulo"/>
          <p:cNvSpPr>
            <a:spLocks/>
          </p:cNvSpPr>
          <p:nvPr/>
        </p:nvSpPr>
        <p:spPr>
          <a:xfrm rot="0">
            <a:off x="822960" y="4224528"/>
            <a:ext cx="1069847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Sumar 1 cada vez: hay que copiar todo el array en cada inserción → el costo se acumula como 1+2+3+…+n ≈ n²/2.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5" name="Óvalo"/>
          <p:cNvSpPr>
            <a:spLocks/>
          </p:cNvSpPr>
          <p:nvPr/>
        </p:nvSpPr>
        <p:spPr>
          <a:xfrm rot="0">
            <a:off x="548640" y="4946904"/>
            <a:ext cx="128015" cy="128015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56" name="Rectángulo"/>
          <p:cNvSpPr>
            <a:spLocks/>
          </p:cNvSpPr>
          <p:nvPr/>
        </p:nvSpPr>
        <p:spPr>
          <a:xfrm rot="0">
            <a:off x="822960" y="4818888"/>
            <a:ext cx="1069847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Duplicar: los redimensionamientos son cada vez más espaciados (1, 2, 4, 8, 16…) → el total copiado es aproximadamente 2n, no n².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7" name="Óvalo"/>
          <p:cNvSpPr>
            <a:spLocks/>
          </p:cNvSpPr>
          <p:nvPr/>
        </p:nvSpPr>
        <p:spPr>
          <a:xfrm rot="0">
            <a:off x="548640" y="5541264"/>
            <a:ext cx="128015" cy="128015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58" name="Rectángulo"/>
          <p:cNvSpPr>
            <a:spLocks/>
          </p:cNvSpPr>
          <p:nvPr/>
        </p:nvSpPr>
        <p:spPr>
          <a:xfrm rot="0">
            <a:off x="822960" y="5413248"/>
            <a:ext cx="10698479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Por eso duplicar (o multiplicar por un factor fijo) mantiene el costo amortizado en O(1); sumar de a uno lo arruina.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9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246330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¿Por qué append() es O(1) "amortizado"?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4" name="Rectángulo"/>
          <p:cNvSpPr>
            <a:spLocks/>
          </p:cNvSpPr>
          <p:nvPr/>
        </p:nvSpPr>
        <p:spPr>
          <a:xfrm rot="0">
            <a:off x="731520" y="5880735"/>
            <a:ext cx="548639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65" name="Rectángulo"/>
          <p:cNvSpPr>
            <a:spLocks/>
          </p:cNvSpPr>
          <p:nvPr/>
        </p:nvSpPr>
        <p:spPr>
          <a:xfrm rot="0">
            <a:off x="137160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66" name="Rectángulo"/>
          <p:cNvSpPr>
            <a:spLocks/>
          </p:cNvSpPr>
          <p:nvPr/>
        </p:nvSpPr>
        <p:spPr>
          <a:xfrm rot="0">
            <a:off x="2011679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67" name="Rectángulo"/>
          <p:cNvSpPr>
            <a:spLocks/>
          </p:cNvSpPr>
          <p:nvPr/>
        </p:nvSpPr>
        <p:spPr>
          <a:xfrm rot="0">
            <a:off x="2651760" y="5554980"/>
            <a:ext cx="548640" cy="434340"/>
          </a:xfrm>
          <a:prstGeom prst="rect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68" name="Rectángulo"/>
          <p:cNvSpPr>
            <a:spLocks/>
          </p:cNvSpPr>
          <p:nvPr/>
        </p:nvSpPr>
        <p:spPr>
          <a:xfrm rot="0">
            <a:off x="329184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69" name="Rectángulo"/>
          <p:cNvSpPr>
            <a:spLocks/>
          </p:cNvSpPr>
          <p:nvPr/>
        </p:nvSpPr>
        <p:spPr>
          <a:xfrm rot="0">
            <a:off x="3931920" y="5880735"/>
            <a:ext cx="548639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0" name="Rectángulo"/>
          <p:cNvSpPr>
            <a:spLocks/>
          </p:cNvSpPr>
          <p:nvPr/>
        </p:nvSpPr>
        <p:spPr>
          <a:xfrm rot="0">
            <a:off x="457200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1" name="Rectángulo"/>
          <p:cNvSpPr>
            <a:spLocks/>
          </p:cNvSpPr>
          <p:nvPr/>
        </p:nvSpPr>
        <p:spPr>
          <a:xfrm rot="0">
            <a:off x="521208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2" name="Rectángulo"/>
          <p:cNvSpPr>
            <a:spLocks/>
          </p:cNvSpPr>
          <p:nvPr/>
        </p:nvSpPr>
        <p:spPr>
          <a:xfrm rot="0">
            <a:off x="5852160" y="5120640"/>
            <a:ext cx="548640" cy="868679"/>
          </a:xfrm>
          <a:prstGeom prst="rect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73" name="Rectángulo"/>
          <p:cNvSpPr>
            <a:spLocks/>
          </p:cNvSpPr>
          <p:nvPr/>
        </p:nvSpPr>
        <p:spPr>
          <a:xfrm rot="0">
            <a:off x="649224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4" name="Rectángulo"/>
          <p:cNvSpPr>
            <a:spLocks/>
          </p:cNvSpPr>
          <p:nvPr/>
        </p:nvSpPr>
        <p:spPr>
          <a:xfrm rot="0">
            <a:off x="713232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5" name="Rectángulo"/>
          <p:cNvSpPr>
            <a:spLocks/>
          </p:cNvSpPr>
          <p:nvPr/>
        </p:nvSpPr>
        <p:spPr>
          <a:xfrm rot="0">
            <a:off x="777240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6" name="Rectángulo"/>
          <p:cNvSpPr>
            <a:spLocks/>
          </p:cNvSpPr>
          <p:nvPr/>
        </p:nvSpPr>
        <p:spPr>
          <a:xfrm rot="0">
            <a:off x="841248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7" name="Rectángulo"/>
          <p:cNvSpPr>
            <a:spLocks/>
          </p:cNvSpPr>
          <p:nvPr/>
        </p:nvSpPr>
        <p:spPr>
          <a:xfrm rot="0">
            <a:off x="905256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8" name="Rectángulo"/>
          <p:cNvSpPr>
            <a:spLocks/>
          </p:cNvSpPr>
          <p:nvPr/>
        </p:nvSpPr>
        <p:spPr>
          <a:xfrm rot="0">
            <a:off x="9692640" y="5880735"/>
            <a:ext cx="548640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79" name="Rectángulo"/>
          <p:cNvSpPr>
            <a:spLocks/>
          </p:cNvSpPr>
          <p:nvPr/>
        </p:nvSpPr>
        <p:spPr>
          <a:xfrm rot="0">
            <a:off x="10332720" y="5880735"/>
            <a:ext cx="548639" cy="108584"/>
          </a:xfrm>
          <a:prstGeom prst="rect"/>
          <a:solidFill>
            <a:srgbClr val="CADCFC"/>
          </a:solidFill>
          <a:ln w="12700" cmpd="sng" cap="flat">
            <a:noFill/>
            <a:prstDash val="solid"/>
            <a:miter/>
          </a:ln>
        </p:spPr>
      </p:sp>
      <p:sp>
        <p:nvSpPr>
          <p:cNvPr id="380" name="Rectángulo"/>
          <p:cNvSpPr>
            <a:spLocks/>
          </p:cNvSpPr>
          <p:nvPr/>
        </p:nvSpPr>
        <p:spPr>
          <a:xfrm rot="0">
            <a:off x="10972800" y="4251960"/>
            <a:ext cx="548639" cy="1737360"/>
          </a:xfrm>
          <a:prstGeom prst="rect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81" name="Línea recta"/>
          <p:cNvSpPr>
            <a:spLocks/>
          </p:cNvSpPr>
          <p:nvPr/>
        </p:nvSpPr>
        <p:spPr>
          <a:xfrm rot="0">
            <a:off x="731520" y="5989320"/>
            <a:ext cx="10881359" cy="913"/>
          </a:xfrm>
          <a:prstGeom prst="line"/>
          <a:noFill/>
          <a:ln w="12700" cmpd="sng" cap="flat">
            <a:solidFill>
              <a:srgbClr val="7A7A85"/>
            </a:solidFill>
            <a:prstDash val="solid"/>
            <a:round/>
          </a:ln>
        </p:spPr>
      </p:sp>
      <p:sp>
        <p:nvSpPr>
          <p:cNvPr id="382" name="Rectángulo"/>
          <p:cNvSpPr>
            <a:spLocks/>
          </p:cNvSpPr>
          <p:nvPr/>
        </p:nvSpPr>
        <p:spPr>
          <a:xfrm rot="0">
            <a:off x="731520" y="6062472"/>
            <a:ext cx="91440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costo de cada inserción sucesiva →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3" name="Óvalo"/>
          <p:cNvSpPr>
            <a:spLocks/>
          </p:cNvSpPr>
          <p:nvPr/>
        </p:nvSpPr>
        <p:spPr>
          <a:xfrm rot="0">
            <a:off x="548640" y="1837944"/>
            <a:ext cx="128015" cy="128015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84" name="Rectángulo"/>
          <p:cNvSpPr>
            <a:spLocks/>
          </p:cNvSpPr>
          <p:nvPr/>
        </p:nvSpPr>
        <p:spPr>
          <a:xfrm rot="0">
            <a:off x="822960" y="1709928"/>
            <a:ext cx="10698479" cy="5212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La mayoría de las veces, agregar un elemento es O(1): hay espacio de sobra.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5" name="Óvalo"/>
          <p:cNvSpPr>
            <a:spLocks/>
          </p:cNvSpPr>
          <p:nvPr/>
        </p:nvSpPr>
        <p:spPr>
          <a:xfrm rot="0">
            <a:off x="548640" y="2404872"/>
            <a:ext cx="128015" cy="128015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86" name="Rectángulo"/>
          <p:cNvSpPr>
            <a:spLocks/>
          </p:cNvSpPr>
          <p:nvPr/>
        </p:nvSpPr>
        <p:spPr>
          <a:xfrm rot="0">
            <a:off x="822960" y="2276856"/>
            <a:ext cx="10698479" cy="5212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 vez en cuando (barras doradas), el array se llena y toca redimensionar: O(n).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7" name="Óvalo"/>
          <p:cNvSpPr>
            <a:spLocks/>
          </p:cNvSpPr>
          <p:nvPr/>
        </p:nvSpPr>
        <p:spPr>
          <a:xfrm rot="0">
            <a:off x="548640" y="2971799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88" name="Rectángulo"/>
          <p:cNvSpPr>
            <a:spLocks/>
          </p:cNvSpPr>
          <p:nvPr/>
        </p:nvSpPr>
        <p:spPr>
          <a:xfrm rot="0">
            <a:off x="822960" y="2843784"/>
            <a:ext cx="10698479" cy="5212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Al "repartir" ese costo ocasional entre todas las inserciones, el promedio por inserción sigue siendo O(1).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9" name="Óvalo"/>
          <p:cNvSpPr>
            <a:spLocks/>
          </p:cNvSpPr>
          <p:nvPr/>
        </p:nvSpPr>
        <p:spPr>
          <a:xfrm rot="0">
            <a:off x="548640" y="3538728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390" name="Rectángulo"/>
          <p:cNvSpPr>
            <a:spLocks/>
          </p:cNvSpPr>
          <p:nvPr/>
        </p:nvSpPr>
        <p:spPr>
          <a:xfrm rot="0">
            <a:off x="822960" y="3410712"/>
            <a:ext cx="10698479" cy="5212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Por eso se dice O(1) amortizado, no O(1) puro.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1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334198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963480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Array estático vs. dinámico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7" name="Rectángulo redondeado"/>
          <p:cNvSpPr>
            <a:spLocks/>
          </p:cNvSpPr>
          <p:nvPr/>
        </p:nvSpPr>
        <p:spPr>
          <a:xfrm rot="0">
            <a:off x="548640" y="1828800"/>
            <a:ext cx="5212080" cy="3749039"/>
          </a:xfrm>
          <a:prstGeom prst="roundRect">
            <a:avLst>
              <a:gd name="adj" fmla="val 1949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418" name="Rectángulo"/>
          <p:cNvSpPr>
            <a:spLocks/>
          </p:cNvSpPr>
          <p:nvPr/>
        </p:nvSpPr>
        <p:spPr>
          <a:xfrm rot="0">
            <a:off x="914400" y="2103120"/>
            <a:ext cx="4572000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Estático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9" name="Óvalo"/>
          <p:cNvSpPr>
            <a:spLocks/>
          </p:cNvSpPr>
          <p:nvPr/>
        </p:nvSpPr>
        <p:spPr>
          <a:xfrm rot="0">
            <a:off x="914400" y="2798064"/>
            <a:ext cx="128015" cy="128016"/>
          </a:xfrm>
          <a:prstGeom prst="ellipse"/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420" name="Rectángulo"/>
          <p:cNvSpPr>
            <a:spLocks/>
          </p:cNvSpPr>
          <p:nvPr/>
        </p:nvSpPr>
        <p:spPr>
          <a:xfrm rot="0">
            <a:off x="1188720" y="2670048"/>
            <a:ext cx="42062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Tamaño fijo, definido al crearlo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1" name="Óvalo"/>
          <p:cNvSpPr>
            <a:spLocks/>
          </p:cNvSpPr>
          <p:nvPr/>
        </p:nvSpPr>
        <p:spPr>
          <a:xfrm rot="0">
            <a:off x="914400" y="3346704"/>
            <a:ext cx="128015" cy="128016"/>
          </a:xfrm>
          <a:prstGeom prst="ellipse"/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422" name="Rectángulo"/>
          <p:cNvSpPr>
            <a:spLocks/>
          </p:cNvSpPr>
          <p:nvPr/>
        </p:nvSpPr>
        <p:spPr>
          <a:xfrm rot="0">
            <a:off x="1188720" y="3218688"/>
            <a:ext cx="42062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 se puede cambiar la capacidad después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3" name="Óvalo"/>
          <p:cNvSpPr>
            <a:spLocks/>
          </p:cNvSpPr>
          <p:nvPr/>
        </p:nvSpPr>
        <p:spPr>
          <a:xfrm rot="0">
            <a:off x="914400" y="3895344"/>
            <a:ext cx="128015" cy="128016"/>
          </a:xfrm>
          <a:prstGeom prst="ellipse"/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424" name="Rectángulo"/>
          <p:cNvSpPr>
            <a:spLocks/>
          </p:cNvSpPr>
          <p:nvPr/>
        </p:nvSpPr>
        <p:spPr>
          <a:xfrm rot="0">
            <a:off x="1188720" y="3767328"/>
            <a:ext cx="42062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Ejemplo: arrays de C / Java (int[10])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5" name="Óvalo"/>
          <p:cNvSpPr>
            <a:spLocks/>
          </p:cNvSpPr>
          <p:nvPr/>
        </p:nvSpPr>
        <p:spPr>
          <a:xfrm rot="0">
            <a:off x="914400" y="4443984"/>
            <a:ext cx="128015" cy="128016"/>
          </a:xfrm>
          <a:prstGeom prst="ellipse"/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426" name="Rectángulo"/>
          <p:cNvSpPr>
            <a:spLocks/>
          </p:cNvSpPr>
          <p:nvPr/>
        </p:nvSpPr>
        <p:spPr>
          <a:xfrm rot="0">
            <a:off x="1188720" y="4315968"/>
            <a:ext cx="42062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Ventaja: uso de memoria predecible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7" name="Rectángulo redondeado"/>
          <p:cNvSpPr>
            <a:spLocks/>
          </p:cNvSpPr>
          <p:nvPr/>
        </p:nvSpPr>
        <p:spPr>
          <a:xfrm rot="0">
            <a:off x="6309360" y="1828800"/>
            <a:ext cx="5212080" cy="3749039"/>
          </a:xfrm>
          <a:prstGeom prst="roundRect">
            <a:avLst>
              <a:gd name="adj" fmla="val 1949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428" name="Rectángulo"/>
          <p:cNvSpPr>
            <a:spLocks/>
          </p:cNvSpPr>
          <p:nvPr/>
        </p:nvSpPr>
        <p:spPr>
          <a:xfrm rot="0">
            <a:off x="6675120" y="2103120"/>
            <a:ext cx="4572001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Dinámico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9" name="Óvalo"/>
          <p:cNvSpPr>
            <a:spLocks/>
          </p:cNvSpPr>
          <p:nvPr/>
        </p:nvSpPr>
        <p:spPr>
          <a:xfrm rot="0">
            <a:off x="6675120" y="279806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30" name="Rectángulo"/>
          <p:cNvSpPr>
            <a:spLocks/>
          </p:cNvSpPr>
          <p:nvPr/>
        </p:nvSpPr>
        <p:spPr>
          <a:xfrm rot="0">
            <a:off x="6949440" y="2670048"/>
            <a:ext cx="420623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Crece automáticamente al llenarse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1" name="Óvalo"/>
          <p:cNvSpPr>
            <a:spLocks/>
          </p:cNvSpPr>
          <p:nvPr/>
        </p:nvSpPr>
        <p:spPr>
          <a:xfrm rot="0">
            <a:off x="6675120" y="334670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32" name="Rectángulo"/>
          <p:cNvSpPr>
            <a:spLocks/>
          </p:cNvSpPr>
          <p:nvPr/>
        </p:nvSpPr>
        <p:spPr>
          <a:xfrm rot="0">
            <a:off x="6949440" y="3218688"/>
            <a:ext cx="420623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Distingue capacidad (reservada) de tamaño (usada)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3" name="Óvalo"/>
          <p:cNvSpPr>
            <a:spLocks/>
          </p:cNvSpPr>
          <p:nvPr/>
        </p:nvSpPr>
        <p:spPr>
          <a:xfrm rot="0">
            <a:off x="6675120" y="389534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34" name="Rectángulo"/>
          <p:cNvSpPr>
            <a:spLocks/>
          </p:cNvSpPr>
          <p:nvPr/>
        </p:nvSpPr>
        <p:spPr>
          <a:xfrm rot="0">
            <a:off x="6949440" y="3767328"/>
            <a:ext cx="420623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Ejemplo: list de Python, ArrayList de Java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5" name="Óvalo"/>
          <p:cNvSpPr>
            <a:spLocks/>
          </p:cNvSpPr>
          <p:nvPr/>
        </p:nvSpPr>
        <p:spPr>
          <a:xfrm rot="0">
            <a:off x="6675120" y="444398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36" name="Rectángulo"/>
          <p:cNvSpPr>
            <a:spLocks/>
          </p:cNvSpPr>
          <p:nvPr/>
        </p:nvSpPr>
        <p:spPr>
          <a:xfrm rot="0">
            <a:off x="6949440" y="4315968"/>
            <a:ext cx="420623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Costo de crecer se "reparte": O(1) amortizado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7" name="Rectángulo"/>
          <p:cNvSpPr>
            <a:spLocks/>
          </p:cNvSpPr>
          <p:nvPr/>
        </p:nvSpPr>
        <p:spPr>
          <a:xfrm rot="0">
            <a:off x="548640" y="5806440"/>
            <a:ext cx="1088135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 Python, list ya es un array dinámico — nunca se declara el tamaño de antemano.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8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912524"/>
      </p:ext>
    </p:extLst>
  </p:cSld>
  <p:clrMapOvr>
    <a:masterClrMapping/>
  </p:clrMapOvr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Operación: Acceso  arr[i]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3" name="Rectángulo"/>
          <p:cNvSpPr>
            <a:spLocks/>
          </p:cNvSpPr>
          <p:nvPr/>
        </p:nvSpPr>
        <p:spPr>
          <a:xfrm rot="0">
            <a:off x="3108960" y="219456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44" name="Rectángulo"/>
          <p:cNvSpPr>
            <a:spLocks/>
          </p:cNvSpPr>
          <p:nvPr/>
        </p:nvSpPr>
        <p:spPr>
          <a:xfrm rot="0">
            <a:off x="3108960" y="219456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5" name="Rectángulo"/>
          <p:cNvSpPr>
            <a:spLocks/>
          </p:cNvSpPr>
          <p:nvPr/>
        </p:nvSpPr>
        <p:spPr>
          <a:xfrm rot="0">
            <a:off x="3108960" y="3090672"/>
            <a:ext cx="914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6" name="Rectángulo"/>
          <p:cNvSpPr>
            <a:spLocks/>
          </p:cNvSpPr>
          <p:nvPr/>
        </p:nvSpPr>
        <p:spPr>
          <a:xfrm rot="0">
            <a:off x="4133088" y="219456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47" name="Rectángulo"/>
          <p:cNvSpPr>
            <a:spLocks/>
          </p:cNvSpPr>
          <p:nvPr/>
        </p:nvSpPr>
        <p:spPr>
          <a:xfrm rot="0">
            <a:off x="4133088" y="219456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8" name="Rectángulo"/>
          <p:cNvSpPr>
            <a:spLocks/>
          </p:cNvSpPr>
          <p:nvPr/>
        </p:nvSpPr>
        <p:spPr>
          <a:xfrm rot="0">
            <a:off x="4133088" y="3090672"/>
            <a:ext cx="914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9" name="Rectángulo"/>
          <p:cNvSpPr>
            <a:spLocks/>
          </p:cNvSpPr>
          <p:nvPr/>
        </p:nvSpPr>
        <p:spPr>
          <a:xfrm rot="0">
            <a:off x="5157216" y="219456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50" name="Rectángulo"/>
          <p:cNvSpPr>
            <a:spLocks/>
          </p:cNvSpPr>
          <p:nvPr/>
        </p:nvSpPr>
        <p:spPr>
          <a:xfrm rot="0">
            <a:off x="5157216" y="219456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1" name="Rectángulo"/>
          <p:cNvSpPr>
            <a:spLocks/>
          </p:cNvSpPr>
          <p:nvPr/>
        </p:nvSpPr>
        <p:spPr>
          <a:xfrm rot="0">
            <a:off x="5157216" y="3090672"/>
            <a:ext cx="914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2" name="Rectángulo"/>
          <p:cNvSpPr>
            <a:spLocks/>
          </p:cNvSpPr>
          <p:nvPr/>
        </p:nvSpPr>
        <p:spPr>
          <a:xfrm rot="0">
            <a:off x="6181344" y="219456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53" name="Rectángulo"/>
          <p:cNvSpPr>
            <a:spLocks/>
          </p:cNvSpPr>
          <p:nvPr/>
        </p:nvSpPr>
        <p:spPr>
          <a:xfrm rot="0">
            <a:off x="6181344" y="219456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4" name="Rectángulo"/>
          <p:cNvSpPr>
            <a:spLocks/>
          </p:cNvSpPr>
          <p:nvPr/>
        </p:nvSpPr>
        <p:spPr>
          <a:xfrm rot="0">
            <a:off x="6181344" y="3090672"/>
            <a:ext cx="914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5" name="Rectángulo"/>
          <p:cNvSpPr>
            <a:spLocks/>
          </p:cNvSpPr>
          <p:nvPr/>
        </p:nvSpPr>
        <p:spPr>
          <a:xfrm rot="0">
            <a:off x="7205472" y="2194560"/>
            <a:ext cx="914400" cy="822959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56" name="Rectángulo"/>
          <p:cNvSpPr>
            <a:spLocks/>
          </p:cNvSpPr>
          <p:nvPr/>
        </p:nvSpPr>
        <p:spPr>
          <a:xfrm rot="0">
            <a:off x="7205472" y="219456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7" name="Rectángulo"/>
          <p:cNvSpPr>
            <a:spLocks/>
          </p:cNvSpPr>
          <p:nvPr/>
        </p:nvSpPr>
        <p:spPr>
          <a:xfrm rot="0">
            <a:off x="7205472" y="3090672"/>
            <a:ext cx="914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8" name="Rectángulo"/>
          <p:cNvSpPr>
            <a:spLocks/>
          </p:cNvSpPr>
          <p:nvPr/>
        </p:nvSpPr>
        <p:spPr>
          <a:xfrm rot="0">
            <a:off x="8229600" y="219456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59" name="Rectángulo"/>
          <p:cNvSpPr>
            <a:spLocks/>
          </p:cNvSpPr>
          <p:nvPr/>
        </p:nvSpPr>
        <p:spPr>
          <a:xfrm rot="0">
            <a:off x="8229600" y="219456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56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0" name="Rectángulo"/>
          <p:cNvSpPr>
            <a:spLocks/>
          </p:cNvSpPr>
          <p:nvPr/>
        </p:nvSpPr>
        <p:spPr>
          <a:xfrm rot="0">
            <a:off x="8229600" y="3090672"/>
            <a:ext cx="914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1" name="Óvalo"/>
          <p:cNvSpPr>
            <a:spLocks/>
          </p:cNvSpPr>
          <p:nvPr/>
        </p:nvSpPr>
        <p:spPr>
          <a:xfrm rot="0">
            <a:off x="3108960" y="37490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62" name="Rectángulo"/>
          <p:cNvSpPr>
            <a:spLocks/>
          </p:cNvSpPr>
          <p:nvPr/>
        </p:nvSpPr>
        <p:spPr>
          <a:xfrm rot="0">
            <a:off x="3108960" y="37490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3" name="Rectángulo"/>
          <p:cNvSpPr>
            <a:spLocks/>
          </p:cNvSpPr>
          <p:nvPr/>
        </p:nvSpPr>
        <p:spPr>
          <a:xfrm rot="0">
            <a:off x="3749040" y="3730752"/>
            <a:ext cx="6400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Calcular la dirección: base + i × tamaño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4" name="Óvalo"/>
          <p:cNvSpPr>
            <a:spLocks/>
          </p:cNvSpPr>
          <p:nvPr/>
        </p:nvSpPr>
        <p:spPr>
          <a:xfrm rot="0">
            <a:off x="3108960" y="438912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65" name="Rectángulo"/>
          <p:cNvSpPr>
            <a:spLocks/>
          </p:cNvSpPr>
          <p:nvPr/>
        </p:nvSpPr>
        <p:spPr>
          <a:xfrm rot="0">
            <a:off x="3108960" y="43891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6" name="Rectángulo"/>
          <p:cNvSpPr>
            <a:spLocks/>
          </p:cNvSpPr>
          <p:nvPr/>
        </p:nvSpPr>
        <p:spPr>
          <a:xfrm rot="0">
            <a:off x="3749040" y="4370832"/>
            <a:ext cx="6400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Leer directamente esa posición de memoria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7" name="Rectángulo redondeado"/>
          <p:cNvSpPr>
            <a:spLocks/>
          </p:cNvSpPr>
          <p:nvPr/>
        </p:nvSpPr>
        <p:spPr>
          <a:xfrm rot="0">
            <a:off x="3108960" y="5212080"/>
            <a:ext cx="5943599" cy="640080"/>
          </a:xfrm>
          <a:prstGeom prst="roundRect">
            <a:avLst>
              <a:gd name="adj" fmla="val 8569"/>
            </a:avLst>
          </a:prstGeom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68" name="Rectángulo"/>
          <p:cNvSpPr>
            <a:spLocks/>
          </p:cNvSpPr>
          <p:nvPr/>
        </p:nvSpPr>
        <p:spPr>
          <a:xfrm rot="0">
            <a:off x="3108960" y="5212080"/>
            <a:ext cx="5943599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Complejidad: O(1) — constante, sin importar el tamaño del array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9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669590"/>
      </p:ext>
    </p:extLst>
  </p:cSld>
  <p:clrMapOvr>
    <a:masterClrMapping/>
  </p:clrMapOvr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Operación: Búsqueda de un valor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4" name="Rectángulo"/>
          <p:cNvSpPr>
            <a:spLocks/>
          </p:cNvSpPr>
          <p:nvPr/>
        </p:nvSpPr>
        <p:spPr>
          <a:xfrm rot="0">
            <a:off x="548640" y="1600200"/>
            <a:ext cx="91440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Buscar 91 → recorrer desde el índice 0 hasta encontrarlo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5" name="Rectángulo"/>
          <p:cNvSpPr>
            <a:spLocks/>
          </p:cNvSpPr>
          <p:nvPr/>
        </p:nvSpPr>
        <p:spPr>
          <a:xfrm rot="0">
            <a:off x="1280160" y="3291840"/>
            <a:ext cx="1371599" cy="1051559"/>
          </a:xfrm>
          <a:prstGeom prst="rect"/>
          <a:solidFill>
            <a:srgbClr val="3A4488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76" name="Rectángulo"/>
          <p:cNvSpPr>
            <a:spLocks/>
          </p:cNvSpPr>
          <p:nvPr/>
        </p:nvSpPr>
        <p:spPr>
          <a:xfrm rot="0">
            <a:off x="1280160" y="3291840"/>
            <a:ext cx="1371599" cy="10515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7" name="Rectángulo"/>
          <p:cNvSpPr>
            <a:spLocks/>
          </p:cNvSpPr>
          <p:nvPr/>
        </p:nvSpPr>
        <p:spPr>
          <a:xfrm rot="0">
            <a:off x="1280160" y="2926080"/>
            <a:ext cx="137159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paso 1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8" name="Rectángulo"/>
          <p:cNvSpPr>
            <a:spLocks/>
          </p:cNvSpPr>
          <p:nvPr/>
        </p:nvSpPr>
        <p:spPr>
          <a:xfrm rot="0">
            <a:off x="2788920" y="3291840"/>
            <a:ext cx="1371600" cy="1051559"/>
          </a:xfrm>
          <a:prstGeom prst="rect"/>
          <a:solidFill>
            <a:srgbClr val="3A4488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79" name="Rectángulo"/>
          <p:cNvSpPr>
            <a:spLocks/>
          </p:cNvSpPr>
          <p:nvPr/>
        </p:nvSpPr>
        <p:spPr>
          <a:xfrm rot="0">
            <a:off x="2788920" y="3291840"/>
            <a:ext cx="1371600" cy="10515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0" name="Rectángulo"/>
          <p:cNvSpPr>
            <a:spLocks/>
          </p:cNvSpPr>
          <p:nvPr/>
        </p:nvSpPr>
        <p:spPr>
          <a:xfrm rot="0">
            <a:off x="2788920" y="2926080"/>
            <a:ext cx="13716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paso 2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1" name="Rectángulo"/>
          <p:cNvSpPr>
            <a:spLocks/>
          </p:cNvSpPr>
          <p:nvPr/>
        </p:nvSpPr>
        <p:spPr>
          <a:xfrm rot="0">
            <a:off x="4297680" y="3291840"/>
            <a:ext cx="1371600" cy="1051559"/>
          </a:xfrm>
          <a:prstGeom prst="rect"/>
          <a:solidFill>
            <a:srgbClr val="3A4488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82" name="Rectángulo"/>
          <p:cNvSpPr>
            <a:spLocks/>
          </p:cNvSpPr>
          <p:nvPr/>
        </p:nvSpPr>
        <p:spPr>
          <a:xfrm rot="0">
            <a:off x="4297680" y="3291840"/>
            <a:ext cx="1371600" cy="10515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3" name="Rectángulo"/>
          <p:cNvSpPr>
            <a:spLocks/>
          </p:cNvSpPr>
          <p:nvPr/>
        </p:nvSpPr>
        <p:spPr>
          <a:xfrm rot="0">
            <a:off x="4297680" y="2926080"/>
            <a:ext cx="13716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paso 3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4" name="Rectángulo"/>
          <p:cNvSpPr>
            <a:spLocks/>
          </p:cNvSpPr>
          <p:nvPr/>
        </p:nvSpPr>
        <p:spPr>
          <a:xfrm rot="0">
            <a:off x="5806440" y="3291840"/>
            <a:ext cx="1371600" cy="1051559"/>
          </a:xfrm>
          <a:prstGeom prst="rect"/>
          <a:solidFill>
            <a:srgbClr val="FFC145"/>
          </a:solidFill>
          <a:ln w="25400" cmpd="sng" cap="flat">
            <a:solidFill>
              <a:srgbClr val="FFC145"/>
            </a:solidFill>
            <a:prstDash val="solid"/>
            <a:round/>
          </a:ln>
        </p:spPr>
      </p:sp>
      <p:sp>
        <p:nvSpPr>
          <p:cNvPr id="485" name="Rectángulo"/>
          <p:cNvSpPr>
            <a:spLocks/>
          </p:cNvSpPr>
          <p:nvPr/>
        </p:nvSpPr>
        <p:spPr>
          <a:xfrm rot="0">
            <a:off x="5806440" y="3291840"/>
            <a:ext cx="1371600" cy="10515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6" name="Rectángulo"/>
          <p:cNvSpPr>
            <a:spLocks/>
          </p:cNvSpPr>
          <p:nvPr/>
        </p:nvSpPr>
        <p:spPr>
          <a:xfrm rot="0">
            <a:off x="5806440" y="2926080"/>
            <a:ext cx="13716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C1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encontrado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7" name="Rectángulo"/>
          <p:cNvSpPr>
            <a:spLocks/>
          </p:cNvSpPr>
          <p:nvPr/>
        </p:nvSpPr>
        <p:spPr>
          <a:xfrm rot="0">
            <a:off x="7315200" y="3291840"/>
            <a:ext cx="1371600" cy="1051559"/>
          </a:xfrm>
          <a:prstGeom prst="rect"/>
          <a:solidFill>
            <a:srgbClr val="FFFFFF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88" name="Rectángulo"/>
          <p:cNvSpPr>
            <a:spLocks/>
          </p:cNvSpPr>
          <p:nvPr/>
        </p:nvSpPr>
        <p:spPr>
          <a:xfrm rot="0">
            <a:off x="7315200" y="3291840"/>
            <a:ext cx="1371600" cy="10515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9" name="Rectángulo"/>
          <p:cNvSpPr>
            <a:spLocks/>
          </p:cNvSpPr>
          <p:nvPr/>
        </p:nvSpPr>
        <p:spPr>
          <a:xfrm rot="0">
            <a:off x="7315200" y="2926080"/>
            <a:ext cx="1371600" cy="32004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90" name="Rectángulo"/>
          <p:cNvSpPr>
            <a:spLocks/>
          </p:cNvSpPr>
          <p:nvPr/>
        </p:nvSpPr>
        <p:spPr>
          <a:xfrm rot="0">
            <a:off x="8823960" y="3291840"/>
            <a:ext cx="1371599" cy="1051559"/>
          </a:xfrm>
          <a:prstGeom prst="rect"/>
          <a:solidFill>
            <a:srgbClr val="FFFFFF"/>
          </a:solidFill>
          <a:ln w="2540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491" name="Rectángulo"/>
          <p:cNvSpPr>
            <a:spLocks/>
          </p:cNvSpPr>
          <p:nvPr/>
        </p:nvSpPr>
        <p:spPr>
          <a:xfrm rot="0">
            <a:off x="8823960" y="3291840"/>
            <a:ext cx="1371599" cy="10515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56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2" name="Rectángulo"/>
          <p:cNvSpPr>
            <a:spLocks/>
          </p:cNvSpPr>
          <p:nvPr/>
        </p:nvSpPr>
        <p:spPr>
          <a:xfrm rot="0">
            <a:off x="8823960" y="2926080"/>
            <a:ext cx="1371599" cy="32004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93" name="Rectángulo"/>
          <p:cNvSpPr>
            <a:spLocks/>
          </p:cNvSpPr>
          <p:nvPr/>
        </p:nvSpPr>
        <p:spPr>
          <a:xfrm rot="0">
            <a:off x="548640" y="4892040"/>
            <a:ext cx="10058401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Peor caso: el valor está al final (o no existe) → hay que revisar los n elementos.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4" name="Rectángulo redondeado"/>
          <p:cNvSpPr>
            <a:spLocks/>
          </p:cNvSpPr>
          <p:nvPr/>
        </p:nvSpPr>
        <p:spPr>
          <a:xfrm rot="0">
            <a:off x="548640" y="5394960"/>
            <a:ext cx="5029200" cy="594359"/>
          </a:xfrm>
          <a:prstGeom prst="roundRect">
            <a:avLst>
              <a:gd name="adj" fmla="val 9231"/>
            </a:avLst>
          </a:prstGeom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495" name="Rectángulo"/>
          <p:cNvSpPr>
            <a:spLocks/>
          </p:cNvSpPr>
          <p:nvPr/>
        </p:nvSpPr>
        <p:spPr>
          <a:xfrm rot="0">
            <a:off x="548640" y="5394960"/>
            <a:ext cx="502920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Complejidad: O(n)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6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887939"/>
      </p:ext>
    </p:extLst>
  </p:cSld>
  <p:clrMapOvr>
    <a:masterClrMapping/>
  </p:clrMapOvr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Operación: Insertar al final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1" name="Rectángulo"/>
          <p:cNvSpPr>
            <a:spLocks/>
          </p:cNvSpPr>
          <p:nvPr/>
        </p:nvSpPr>
        <p:spPr>
          <a:xfrm rot="0">
            <a:off x="548640" y="1737360"/>
            <a:ext cx="73152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Caso normal: hay espacio disponible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2" name="Rectángulo"/>
          <p:cNvSpPr>
            <a:spLocks/>
          </p:cNvSpPr>
          <p:nvPr/>
        </p:nvSpPr>
        <p:spPr>
          <a:xfrm rot="0">
            <a:off x="548640" y="2103120"/>
            <a:ext cx="96011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03" name="Rectángulo"/>
          <p:cNvSpPr>
            <a:spLocks/>
          </p:cNvSpPr>
          <p:nvPr/>
        </p:nvSpPr>
        <p:spPr>
          <a:xfrm rot="0">
            <a:off x="548640" y="2103120"/>
            <a:ext cx="96011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4" name="Rectángulo"/>
          <p:cNvSpPr>
            <a:spLocks/>
          </p:cNvSpPr>
          <p:nvPr/>
        </p:nvSpPr>
        <p:spPr>
          <a:xfrm rot="0">
            <a:off x="548640" y="2999232"/>
            <a:ext cx="9601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5" name="Rectángulo"/>
          <p:cNvSpPr>
            <a:spLocks/>
          </p:cNvSpPr>
          <p:nvPr/>
        </p:nvSpPr>
        <p:spPr>
          <a:xfrm rot="0">
            <a:off x="1618487" y="2103120"/>
            <a:ext cx="960120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06" name="Rectángulo"/>
          <p:cNvSpPr>
            <a:spLocks/>
          </p:cNvSpPr>
          <p:nvPr/>
        </p:nvSpPr>
        <p:spPr>
          <a:xfrm rot="0">
            <a:off x="1618487" y="2103120"/>
            <a:ext cx="96012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7" name="Rectángulo"/>
          <p:cNvSpPr>
            <a:spLocks/>
          </p:cNvSpPr>
          <p:nvPr/>
        </p:nvSpPr>
        <p:spPr>
          <a:xfrm rot="0">
            <a:off x="1618487" y="2999232"/>
            <a:ext cx="96012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8" name="Rectángulo"/>
          <p:cNvSpPr>
            <a:spLocks/>
          </p:cNvSpPr>
          <p:nvPr/>
        </p:nvSpPr>
        <p:spPr>
          <a:xfrm rot="0">
            <a:off x="2688336" y="2103120"/>
            <a:ext cx="960120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09" name="Rectángulo"/>
          <p:cNvSpPr>
            <a:spLocks/>
          </p:cNvSpPr>
          <p:nvPr/>
        </p:nvSpPr>
        <p:spPr>
          <a:xfrm rot="0">
            <a:off x="2688336" y="2103120"/>
            <a:ext cx="96012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0" name="Rectángulo"/>
          <p:cNvSpPr>
            <a:spLocks/>
          </p:cNvSpPr>
          <p:nvPr/>
        </p:nvSpPr>
        <p:spPr>
          <a:xfrm rot="0">
            <a:off x="2688336" y="2999232"/>
            <a:ext cx="96012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1" name="Rectángulo"/>
          <p:cNvSpPr>
            <a:spLocks/>
          </p:cNvSpPr>
          <p:nvPr/>
        </p:nvSpPr>
        <p:spPr>
          <a:xfrm rot="0">
            <a:off x="3758184" y="2103120"/>
            <a:ext cx="960120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12" name="Rectángulo"/>
          <p:cNvSpPr>
            <a:spLocks/>
          </p:cNvSpPr>
          <p:nvPr/>
        </p:nvSpPr>
        <p:spPr>
          <a:xfrm rot="0">
            <a:off x="3758184" y="2103120"/>
            <a:ext cx="96012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3" name="Rectángulo"/>
          <p:cNvSpPr>
            <a:spLocks/>
          </p:cNvSpPr>
          <p:nvPr/>
        </p:nvSpPr>
        <p:spPr>
          <a:xfrm rot="0">
            <a:off x="3758184" y="2999232"/>
            <a:ext cx="96012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4" name="Rectángulo"/>
          <p:cNvSpPr>
            <a:spLocks/>
          </p:cNvSpPr>
          <p:nvPr/>
        </p:nvSpPr>
        <p:spPr>
          <a:xfrm rot="0">
            <a:off x="4828032" y="2103120"/>
            <a:ext cx="960120" cy="822960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15" name="Rectángulo"/>
          <p:cNvSpPr>
            <a:spLocks/>
          </p:cNvSpPr>
          <p:nvPr/>
        </p:nvSpPr>
        <p:spPr>
          <a:xfrm rot="0">
            <a:off x="4828032" y="2103120"/>
            <a:ext cx="96012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99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6" name="Rectángulo"/>
          <p:cNvSpPr>
            <a:spLocks/>
          </p:cNvSpPr>
          <p:nvPr/>
        </p:nvSpPr>
        <p:spPr>
          <a:xfrm rot="0">
            <a:off x="4828032" y="2999232"/>
            <a:ext cx="96012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7" name="Rectángulo redondeado"/>
          <p:cNvSpPr>
            <a:spLocks/>
          </p:cNvSpPr>
          <p:nvPr/>
        </p:nvSpPr>
        <p:spPr>
          <a:xfrm rot="0">
            <a:off x="548640" y="3429000"/>
            <a:ext cx="5394960" cy="548639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518" name="Rectángulo"/>
          <p:cNvSpPr>
            <a:spLocks/>
          </p:cNvSpPr>
          <p:nvPr/>
        </p:nvSpPr>
        <p:spPr>
          <a:xfrm rot="0">
            <a:off x="777240" y="3429000"/>
            <a:ext cx="493776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O(1) → se escribe directamente en la siguiente posición libre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9" name="Rectángulo"/>
          <p:cNvSpPr>
            <a:spLocks/>
          </p:cNvSpPr>
          <p:nvPr/>
        </p:nvSpPr>
        <p:spPr>
          <a:xfrm rot="0">
            <a:off x="6400800" y="1737360"/>
            <a:ext cx="50292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Caso especial: el array está lleno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0" name="Rectángulo"/>
          <p:cNvSpPr>
            <a:spLocks/>
          </p:cNvSpPr>
          <p:nvPr/>
        </p:nvSpPr>
        <p:spPr>
          <a:xfrm rot="0">
            <a:off x="6400800" y="2103120"/>
            <a:ext cx="96011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21" name="Rectángulo"/>
          <p:cNvSpPr>
            <a:spLocks/>
          </p:cNvSpPr>
          <p:nvPr/>
        </p:nvSpPr>
        <p:spPr>
          <a:xfrm rot="0">
            <a:off x="6400800" y="2103120"/>
            <a:ext cx="96011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2" name="Rectángulo"/>
          <p:cNvSpPr>
            <a:spLocks/>
          </p:cNvSpPr>
          <p:nvPr/>
        </p:nvSpPr>
        <p:spPr>
          <a:xfrm rot="0">
            <a:off x="6400800" y="2999232"/>
            <a:ext cx="9601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3" name="Rectángulo"/>
          <p:cNvSpPr>
            <a:spLocks/>
          </p:cNvSpPr>
          <p:nvPr/>
        </p:nvSpPr>
        <p:spPr>
          <a:xfrm rot="0">
            <a:off x="7470648" y="2103120"/>
            <a:ext cx="96011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24" name="Rectángulo"/>
          <p:cNvSpPr>
            <a:spLocks/>
          </p:cNvSpPr>
          <p:nvPr/>
        </p:nvSpPr>
        <p:spPr>
          <a:xfrm rot="0">
            <a:off x="7470648" y="2103120"/>
            <a:ext cx="96011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5" name="Rectángulo"/>
          <p:cNvSpPr>
            <a:spLocks/>
          </p:cNvSpPr>
          <p:nvPr/>
        </p:nvSpPr>
        <p:spPr>
          <a:xfrm rot="0">
            <a:off x="7470648" y="2999232"/>
            <a:ext cx="9601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6" name="Rectángulo"/>
          <p:cNvSpPr>
            <a:spLocks/>
          </p:cNvSpPr>
          <p:nvPr/>
        </p:nvSpPr>
        <p:spPr>
          <a:xfrm rot="0">
            <a:off x="8540496" y="2103120"/>
            <a:ext cx="96011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27" name="Rectángulo"/>
          <p:cNvSpPr>
            <a:spLocks/>
          </p:cNvSpPr>
          <p:nvPr/>
        </p:nvSpPr>
        <p:spPr>
          <a:xfrm rot="0">
            <a:off x="8540496" y="2103120"/>
            <a:ext cx="96011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8" name="Rectángulo"/>
          <p:cNvSpPr>
            <a:spLocks/>
          </p:cNvSpPr>
          <p:nvPr/>
        </p:nvSpPr>
        <p:spPr>
          <a:xfrm rot="0">
            <a:off x="8540496" y="2999232"/>
            <a:ext cx="9601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9" name="Rectángulo"/>
          <p:cNvSpPr>
            <a:spLocks/>
          </p:cNvSpPr>
          <p:nvPr/>
        </p:nvSpPr>
        <p:spPr>
          <a:xfrm rot="0">
            <a:off x="9610344" y="2103120"/>
            <a:ext cx="96011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30" name="Rectángulo"/>
          <p:cNvSpPr>
            <a:spLocks/>
          </p:cNvSpPr>
          <p:nvPr/>
        </p:nvSpPr>
        <p:spPr>
          <a:xfrm rot="0">
            <a:off x="9610344" y="2103120"/>
            <a:ext cx="96011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1" name="Rectángulo"/>
          <p:cNvSpPr>
            <a:spLocks/>
          </p:cNvSpPr>
          <p:nvPr/>
        </p:nvSpPr>
        <p:spPr>
          <a:xfrm rot="0">
            <a:off x="9610344" y="2999232"/>
            <a:ext cx="9601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2" name="Rectángulo"/>
          <p:cNvSpPr>
            <a:spLocks/>
          </p:cNvSpPr>
          <p:nvPr/>
        </p:nvSpPr>
        <p:spPr>
          <a:xfrm rot="0">
            <a:off x="10680192" y="2331720"/>
            <a:ext cx="118871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D645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¡lleno!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3" name="Rectángulo redondeado"/>
          <p:cNvSpPr>
            <a:spLocks/>
          </p:cNvSpPr>
          <p:nvPr/>
        </p:nvSpPr>
        <p:spPr>
          <a:xfrm rot="0">
            <a:off x="6400800" y="3429000"/>
            <a:ext cx="5394960" cy="822960"/>
          </a:xfrm>
          <a:prstGeom prst="roundRect">
            <a:avLst>
              <a:gd name="adj" fmla="val 6666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534" name="Rectángulo"/>
          <p:cNvSpPr>
            <a:spLocks/>
          </p:cNvSpPr>
          <p:nvPr/>
        </p:nvSpPr>
        <p:spPr>
          <a:xfrm rot="0">
            <a:off x="6675120" y="3429000"/>
            <a:ext cx="484632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 dispara el redimensionamiento (ver diapositiva 13): O(n) en ese momento, O(1) amortizado en promedio.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5" name="Rectángulo"/>
          <p:cNvSpPr>
            <a:spLocks/>
          </p:cNvSpPr>
          <p:nvPr/>
        </p:nvSpPr>
        <p:spPr>
          <a:xfrm rot="0">
            <a:off x="548640" y="4663440"/>
            <a:ext cx="10881359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 cualquier caso, insertar al final es la operación más barata de modificar un array.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6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861872"/>
      </p:ext>
    </p:extLst>
  </p:cSld>
  <p:clrMapOvr>
    <a:masterClrMapping/>
  </p:clrMapOvr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Insertar al inicio: el costo oculto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1" name="Rectángulo"/>
          <p:cNvSpPr>
            <a:spLocks/>
          </p:cNvSpPr>
          <p:nvPr/>
        </p:nvSpPr>
        <p:spPr>
          <a:xfrm rot="0">
            <a:off x="548640" y="1737360"/>
            <a:ext cx="54864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Antes: insertar 99 en la posición 0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2" name="Rectángulo"/>
          <p:cNvSpPr>
            <a:spLocks/>
          </p:cNvSpPr>
          <p:nvPr/>
        </p:nvSpPr>
        <p:spPr>
          <a:xfrm rot="0">
            <a:off x="2743200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43" name="Rectángulo"/>
          <p:cNvSpPr>
            <a:spLocks/>
          </p:cNvSpPr>
          <p:nvPr/>
        </p:nvSpPr>
        <p:spPr>
          <a:xfrm rot="0">
            <a:off x="2743200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4" name="Rectángulo"/>
          <p:cNvSpPr>
            <a:spLocks/>
          </p:cNvSpPr>
          <p:nvPr/>
        </p:nvSpPr>
        <p:spPr>
          <a:xfrm rot="0">
            <a:off x="3904488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45" name="Rectángulo"/>
          <p:cNvSpPr>
            <a:spLocks/>
          </p:cNvSpPr>
          <p:nvPr/>
        </p:nvSpPr>
        <p:spPr>
          <a:xfrm rot="0">
            <a:off x="3904488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6" name="Rectángulo"/>
          <p:cNvSpPr>
            <a:spLocks/>
          </p:cNvSpPr>
          <p:nvPr/>
        </p:nvSpPr>
        <p:spPr>
          <a:xfrm rot="0">
            <a:off x="5065775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47" name="Rectángulo"/>
          <p:cNvSpPr>
            <a:spLocks/>
          </p:cNvSpPr>
          <p:nvPr/>
        </p:nvSpPr>
        <p:spPr>
          <a:xfrm rot="0">
            <a:off x="5065775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8" name="Rectángulo"/>
          <p:cNvSpPr>
            <a:spLocks/>
          </p:cNvSpPr>
          <p:nvPr/>
        </p:nvSpPr>
        <p:spPr>
          <a:xfrm rot="0">
            <a:off x="6227064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49" name="Rectángulo"/>
          <p:cNvSpPr>
            <a:spLocks/>
          </p:cNvSpPr>
          <p:nvPr/>
        </p:nvSpPr>
        <p:spPr>
          <a:xfrm rot="0">
            <a:off x="6227064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0" name="Rectángulo"/>
          <p:cNvSpPr>
            <a:spLocks/>
          </p:cNvSpPr>
          <p:nvPr/>
        </p:nvSpPr>
        <p:spPr>
          <a:xfrm rot="0">
            <a:off x="7388352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51" name="Rectángulo"/>
          <p:cNvSpPr>
            <a:spLocks/>
          </p:cNvSpPr>
          <p:nvPr/>
        </p:nvSpPr>
        <p:spPr>
          <a:xfrm rot="0">
            <a:off x="7388352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2" name="Rectángulo"/>
          <p:cNvSpPr>
            <a:spLocks/>
          </p:cNvSpPr>
          <p:nvPr/>
        </p:nvSpPr>
        <p:spPr>
          <a:xfrm rot="0">
            <a:off x="8549640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53" name="Rectángulo"/>
          <p:cNvSpPr>
            <a:spLocks/>
          </p:cNvSpPr>
          <p:nvPr/>
        </p:nvSpPr>
        <p:spPr>
          <a:xfrm rot="0">
            <a:off x="8549640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56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4" name="Rectángulo"/>
          <p:cNvSpPr>
            <a:spLocks/>
          </p:cNvSpPr>
          <p:nvPr/>
        </p:nvSpPr>
        <p:spPr>
          <a:xfrm rot="0">
            <a:off x="548640" y="3246120"/>
            <a:ext cx="7315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Después: cada elemento se desplaza una posición a la derecha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5" name="Rectángulo"/>
          <p:cNvSpPr>
            <a:spLocks/>
          </p:cNvSpPr>
          <p:nvPr/>
        </p:nvSpPr>
        <p:spPr>
          <a:xfrm rot="0">
            <a:off x="2286000" y="3657600"/>
            <a:ext cx="914400" cy="822959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56" name="Rectángulo"/>
          <p:cNvSpPr>
            <a:spLocks/>
          </p:cNvSpPr>
          <p:nvPr/>
        </p:nvSpPr>
        <p:spPr>
          <a:xfrm rot="0">
            <a:off x="228600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99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7" name="Rectángulo"/>
          <p:cNvSpPr>
            <a:spLocks/>
          </p:cNvSpPr>
          <p:nvPr/>
        </p:nvSpPr>
        <p:spPr>
          <a:xfrm rot="0">
            <a:off x="3291840" y="365760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58" name="Rectángulo"/>
          <p:cNvSpPr>
            <a:spLocks/>
          </p:cNvSpPr>
          <p:nvPr/>
        </p:nvSpPr>
        <p:spPr>
          <a:xfrm rot="0">
            <a:off x="329184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9" name="Línea recta"/>
          <p:cNvSpPr>
            <a:spLocks/>
          </p:cNvSpPr>
          <p:nvPr/>
        </p:nvSpPr>
        <p:spPr>
          <a:xfrm rot="0">
            <a:off x="3200400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560" name="Rectángulo"/>
          <p:cNvSpPr>
            <a:spLocks/>
          </p:cNvSpPr>
          <p:nvPr/>
        </p:nvSpPr>
        <p:spPr>
          <a:xfrm rot="0">
            <a:off x="4297680" y="365760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61" name="Rectángulo"/>
          <p:cNvSpPr>
            <a:spLocks/>
          </p:cNvSpPr>
          <p:nvPr/>
        </p:nvSpPr>
        <p:spPr>
          <a:xfrm rot="0">
            <a:off x="429768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2" name="Línea recta"/>
          <p:cNvSpPr>
            <a:spLocks/>
          </p:cNvSpPr>
          <p:nvPr/>
        </p:nvSpPr>
        <p:spPr>
          <a:xfrm rot="0">
            <a:off x="4206240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563" name="Rectángulo"/>
          <p:cNvSpPr>
            <a:spLocks/>
          </p:cNvSpPr>
          <p:nvPr/>
        </p:nvSpPr>
        <p:spPr>
          <a:xfrm rot="0">
            <a:off x="5303520" y="365760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64" name="Rectángulo"/>
          <p:cNvSpPr>
            <a:spLocks/>
          </p:cNvSpPr>
          <p:nvPr/>
        </p:nvSpPr>
        <p:spPr>
          <a:xfrm rot="0">
            <a:off x="530352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5" name="Línea recta"/>
          <p:cNvSpPr>
            <a:spLocks/>
          </p:cNvSpPr>
          <p:nvPr/>
        </p:nvSpPr>
        <p:spPr>
          <a:xfrm rot="0">
            <a:off x="5212080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566" name="Rectángulo"/>
          <p:cNvSpPr>
            <a:spLocks/>
          </p:cNvSpPr>
          <p:nvPr/>
        </p:nvSpPr>
        <p:spPr>
          <a:xfrm rot="0">
            <a:off x="6309360" y="365760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67" name="Rectángulo"/>
          <p:cNvSpPr>
            <a:spLocks/>
          </p:cNvSpPr>
          <p:nvPr/>
        </p:nvSpPr>
        <p:spPr>
          <a:xfrm rot="0">
            <a:off x="630936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8" name="Línea recta"/>
          <p:cNvSpPr>
            <a:spLocks/>
          </p:cNvSpPr>
          <p:nvPr/>
        </p:nvSpPr>
        <p:spPr>
          <a:xfrm rot="0">
            <a:off x="6217920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569" name="Rectángulo"/>
          <p:cNvSpPr>
            <a:spLocks/>
          </p:cNvSpPr>
          <p:nvPr/>
        </p:nvSpPr>
        <p:spPr>
          <a:xfrm rot="0">
            <a:off x="7315200" y="365760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70" name="Rectángulo"/>
          <p:cNvSpPr>
            <a:spLocks/>
          </p:cNvSpPr>
          <p:nvPr/>
        </p:nvSpPr>
        <p:spPr>
          <a:xfrm rot="0">
            <a:off x="731520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1" name="Línea recta"/>
          <p:cNvSpPr>
            <a:spLocks/>
          </p:cNvSpPr>
          <p:nvPr/>
        </p:nvSpPr>
        <p:spPr>
          <a:xfrm rot="0">
            <a:off x="7223760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572" name="Rectángulo"/>
          <p:cNvSpPr>
            <a:spLocks/>
          </p:cNvSpPr>
          <p:nvPr/>
        </p:nvSpPr>
        <p:spPr>
          <a:xfrm rot="0">
            <a:off x="8321040" y="365760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73" name="Rectángulo"/>
          <p:cNvSpPr>
            <a:spLocks/>
          </p:cNvSpPr>
          <p:nvPr/>
        </p:nvSpPr>
        <p:spPr>
          <a:xfrm rot="0">
            <a:off x="832104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56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4" name="Línea recta"/>
          <p:cNvSpPr>
            <a:spLocks/>
          </p:cNvSpPr>
          <p:nvPr/>
        </p:nvSpPr>
        <p:spPr>
          <a:xfrm rot="0">
            <a:off x="8229600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575" name="Rectángulo"/>
          <p:cNvSpPr>
            <a:spLocks/>
          </p:cNvSpPr>
          <p:nvPr/>
        </p:nvSpPr>
        <p:spPr>
          <a:xfrm rot="0">
            <a:off x="548640" y="4937760"/>
            <a:ext cx="105156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Insertar al inicio cuesta O(n): se mueven los n elementos existentes para abrir espacio.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6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992105"/>
      </p:ext>
    </p:extLst>
  </p:cSld>
  <p:clrMapOvr>
    <a:masterClrMapping/>
  </p:clrMapOvr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Operación: Eliminar un elemento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1" name="Rectángulo"/>
          <p:cNvSpPr>
            <a:spLocks/>
          </p:cNvSpPr>
          <p:nvPr/>
        </p:nvSpPr>
        <p:spPr>
          <a:xfrm rot="0">
            <a:off x="548640" y="1737360"/>
            <a:ext cx="73152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Antes: eliminar el valor en el índice 2 (el 8)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2" name="Rectángulo"/>
          <p:cNvSpPr>
            <a:spLocks/>
          </p:cNvSpPr>
          <p:nvPr/>
        </p:nvSpPr>
        <p:spPr>
          <a:xfrm rot="0">
            <a:off x="2743200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83" name="Rectángulo"/>
          <p:cNvSpPr>
            <a:spLocks/>
          </p:cNvSpPr>
          <p:nvPr/>
        </p:nvSpPr>
        <p:spPr>
          <a:xfrm rot="0">
            <a:off x="2743200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4" name="Rectángulo"/>
          <p:cNvSpPr>
            <a:spLocks/>
          </p:cNvSpPr>
          <p:nvPr/>
        </p:nvSpPr>
        <p:spPr>
          <a:xfrm rot="0">
            <a:off x="3904488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85" name="Rectángulo"/>
          <p:cNvSpPr>
            <a:spLocks/>
          </p:cNvSpPr>
          <p:nvPr/>
        </p:nvSpPr>
        <p:spPr>
          <a:xfrm rot="0">
            <a:off x="3904488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6" name="Rectángulo"/>
          <p:cNvSpPr>
            <a:spLocks/>
          </p:cNvSpPr>
          <p:nvPr/>
        </p:nvSpPr>
        <p:spPr>
          <a:xfrm rot="0">
            <a:off x="5065775" y="2103120"/>
            <a:ext cx="1051559" cy="822960"/>
          </a:xfrm>
          <a:prstGeom prst="rect"/>
          <a:solidFill>
            <a:srgbClr val="8A2C2C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87" name="Rectángulo"/>
          <p:cNvSpPr>
            <a:spLocks/>
          </p:cNvSpPr>
          <p:nvPr/>
        </p:nvSpPr>
        <p:spPr>
          <a:xfrm rot="0">
            <a:off x="5065775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8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8" name="Rectángulo"/>
          <p:cNvSpPr>
            <a:spLocks/>
          </p:cNvSpPr>
          <p:nvPr/>
        </p:nvSpPr>
        <p:spPr>
          <a:xfrm rot="0">
            <a:off x="5065775" y="1783080"/>
            <a:ext cx="105155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D64545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✕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9" name="Rectángulo"/>
          <p:cNvSpPr>
            <a:spLocks/>
          </p:cNvSpPr>
          <p:nvPr/>
        </p:nvSpPr>
        <p:spPr>
          <a:xfrm rot="0">
            <a:off x="6227064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90" name="Rectángulo"/>
          <p:cNvSpPr>
            <a:spLocks/>
          </p:cNvSpPr>
          <p:nvPr/>
        </p:nvSpPr>
        <p:spPr>
          <a:xfrm rot="0">
            <a:off x="6227064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1" name="Rectángulo"/>
          <p:cNvSpPr>
            <a:spLocks/>
          </p:cNvSpPr>
          <p:nvPr/>
        </p:nvSpPr>
        <p:spPr>
          <a:xfrm rot="0">
            <a:off x="7388352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92" name="Rectángulo"/>
          <p:cNvSpPr>
            <a:spLocks/>
          </p:cNvSpPr>
          <p:nvPr/>
        </p:nvSpPr>
        <p:spPr>
          <a:xfrm rot="0">
            <a:off x="7388352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3" name="Rectángulo"/>
          <p:cNvSpPr>
            <a:spLocks/>
          </p:cNvSpPr>
          <p:nvPr/>
        </p:nvSpPr>
        <p:spPr>
          <a:xfrm rot="0">
            <a:off x="8549640" y="2103120"/>
            <a:ext cx="1051559" cy="82296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94" name="Rectángulo"/>
          <p:cNvSpPr>
            <a:spLocks/>
          </p:cNvSpPr>
          <p:nvPr/>
        </p:nvSpPr>
        <p:spPr>
          <a:xfrm rot="0">
            <a:off x="8549640" y="2103120"/>
            <a:ext cx="105155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56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5" name="Rectángulo"/>
          <p:cNvSpPr>
            <a:spLocks/>
          </p:cNvSpPr>
          <p:nvPr/>
        </p:nvSpPr>
        <p:spPr>
          <a:xfrm rot="0">
            <a:off x="548640" y="3246120"/>
            <a:ext cx="7315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Después: los elementos siguientes se desplazan a la izquierda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6" name="Rectángulo"/>
          <p:cNvSpPr>
            <a:spLocks/>
          </p:cNvSpPr>
          <p:nvPr/>
        </p:nvSpPr>
        <p:spPr>
          <a:xfrm rot="0">
            <a:off x="3017519" y="3657600"/>
            <a:ext cx="914400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97" name="Rectángulo"/>
          <p:cNvSpPr>
            <a:spLocks/>
          </p:cNvSpPr>
          <p:nvPr/>
        </p:nvSpPr>
        <p:spPr>
          <a:xfrm rot="0">
            <a:off x="3017519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8" name="Rectángulo"/>
          <p:cNvSpPr>
            <a:spLocks/>
          </p:cNvSpPr>
          <p:nvPr/>
        </p:nvSpPr>
        <p:spPr>
          <a:xfrm rot="0">
            <a:off x="4023359" y="3657600"/>
            <a:ext cx="914399" cy="822959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599" name="Rectángulo"/>
          <p:cNvSpPr>
            <a:spLocks/>
          </p:cNvSpPr>
          <p:nvPr/>
        </p:nvSpPr>
        <p:spPr>
          <a:xfrm rot="0">
            <a:off x="4023359" y="3657600"/>
            <a:ext cx="91439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0" name="Rectángulo"/>
          <p:cNvSpPr>
            <a:spLocks/>
          </p:cNvSpPr>
          <p:nvPr/>
        </p:nvSpPr>
        <p:spPr>
          <a:xfrm rot="0">
            <a:off x="5029200" y="3657600"/>
            <a:ext cx="914400" cy="822959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601" name="Rectángulo"/>
          <p:cNvSpPr>
            <a:spLocks/>
          </p:cNvSpPr>
          <p:nvPr/>
        </p:nvSpPr>
        <p:spPr>
          <a:xfrm rot="0">
            <a:off x="502920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2" name="Línea recta"/>
          <p:cNvSpPr>
            <a:spLocks/>
          </p:cNvSpPr>
          <p:nvPr/>
        </p:nvSpPr>
        <p:spPr>
          <a:xfrm rot="0">
            <a:off x="4937760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603" name="Rectángulo"/>
          <p:cNvSpPr>
            <a:spLocks/>
          </p:cNvSpPr>
          <p:nvPr/>
        </p:nvSpPr>
        <p:spPr>
          <a:xfrm rot="0">
            <a:off x="6035039" y="3657600"/>
            <a:ext cx="914400" cy="822959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604" name="Rectángulo"/>
          <p:cNvSpPr>
            <a:spLocks/>
          </p:cNvSpPr>
          <p:nvPr/>
        </p:nvSpPr>
        <p:spPr>
          <a:xfrm rot="0">
            <a:off x="6035039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5" name="Línea recta"/>
          <p:cNvSpPr>
            <a:spLocks/>
          </p:cNvSpPr>
          <p:nvPr/>
        </p:nvSpPr>
        <p:spPr>
          <a:xfrm rot="0">
            <a:off x="5943599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606" name="Rectángulo"/>
          <p:cNvSpPr>
            <a:spLocks/>
          </p:cNvSpPr>
          <p:nvPr/>
        </p:nvSpPr>
        <p:spPr>
          <a:xfrm rot="0">
            <a:off x="7040880" y="3657600"/>
            <a:ext cx="914400" cy="822959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607" name="Rectángulo"/>
          <p:cNvSpPr>
            <a:spLocks/>
          </p:cNvSpPr>
          <p:nvPr/>
        </p:nvSpPr>
        <p:spPr>
          <a:xfrm rot="0">
            <a:off x="7040880" y="3657600"/>
            <a:ext cx="91440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56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8" name="Línea recta"/>
          <p:cNvSpPr>
            <a:spLocks/>
          </p:cNvSpPr>
          <p:nvPr/>
        </p:nvSpPr>
        <p:spPr>
          <a:xfrm rot="0">
            <a:off x="6949440" y="4069080"/>
            <a:ext cx="91440" cy="913"/>
          </a:xfrm>
          <a:prstGeom prst="line"/>
          <a:noFill/>
          <a:ln w="2540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609" name="Rectángulo"/>
          <p:cNvSpPr>
            <a:spLocks/>
          </p:cNvSpPr>
          <p:nvPr/>
        </p:nvSpPr>
        <p:spPr>
          <a:xfrm rot="0">
            <a:off x="548640" y="4937760"/>
            <a:ext cx="105156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Eliminar en medio o al inicio también cuesta O(n): hay que cerrar el hueco desplazando.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0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343684"/>
      </p:ext>
    </p:extLst>
  </p:cSld>
  <p:clrMapOvr>
    <a:masterClrMapping/>
  </p:clrMapOvr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Complejidad de operaciones — resumen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615" name="Hoja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548640" y="1920240"/>
          <a:ext cx="11064240" cy="347472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4206227"/>
                <a:gridCol w="2377427"/>
                <a:gridCol w="4480547"/>
              </a:tblGrid>
              <a:tr h="69494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Operación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Complejidad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Por qué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9494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Acceso  arr[i]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1E2761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O(1)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La dirección se calcula directamente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9494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Búsqueda de un valor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1E2761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O(n)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Hay que recorrer el array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9494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Insertar al final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1E2761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O(1) amortizado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Casi siempre hay espacio disponible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9494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Insertar / eliminar al inicio o en medio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i="0" u="none" strike="noStrike" kern="1200" cap="none" spc="0" baseline="0">
                          <a:solidFill>
                            <a:srgbClr val="1E2761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O(n)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rgbClr val="2B2B33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Hay que desplazar los elementos siguientes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101600" marT="76200" marR="101600" marB="76200" vert="horz" anchor="ctr">
                    <a:lnL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E4E4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16" name="Rectángulo"/>
          <p:cNvSpPr>
            <a:spLocks/>
          </p:cNvSpPr>
          <p:nvPr/>
        </p:nvSpPr>
        <p:spPr>
          <a:xfrm rot="0">
            <a:off x="548640" y="5669280"/>
            <a:ext cx="1088135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Regla práctica: si una operación puede "correr" elementos, sospecha de O(n).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7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251639"/>
      </p:ext>
    </p:extLst>
  </p:cSld>
  <p:clrMapOvr>
    <a:masterClrMapping/>
  </p:clrMapOvr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Arrays en Python: la lista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2" name="Rectángulo redondeado"/>
          <p:cNvSpPr>
            <a:spLocks/>
          </p:cNvSpPr>
          <p:nvPr/>
        </p:nvSpPr>
        <p:spPr>
          <a:xfrm rot="0">
            <a:off x="548640" y="1828800"/>
            <a:ext cx="6400800" cy="3291840"/>
          </a:xfrm>
          <a:prstGeom prst="roundRect">
            <a:avLst>
              <a:gd name="adj" fmla="val 1666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623" name="Rectángulo"/>
          <p:cNvSpPr>
            <a:spLocks/>
          </p:cNvSpPr>
          <p:nvPr/>
        </p:nvSpPr>
        <p:spPr>
          <a:xfrm rot="0">
            <a:off x="868680" y="2048255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arr = [12, 47, 8, 91, 3, 56]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4" name="Rectángulo"/>
          <p:cNvSpPr>
            <a:spLocks/>
          </p:cNvSpPr>
          <p:nvPr/>
        </p:nvSpPr>
        <p:spPr>
          <a:xfrm rot="0">
            <a:off x="868680" y="2487167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25" name="Rectángulo"/>
          <p:cNvSpPr>
            <a:spLocks/>
          </p:cNvSpPr>
          <p:nvPr/>
        </p:nvSpPr>
        <p:spPr>
          <a:xfrm rot="0">
            <a:off x="868680" y="2926080"/>
            <a:ext cx="576072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arr[3]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# acceso        -&gt; 91      O(1)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6" name="Rectángulo"/>
          <p:cNvSpPr>
            <a:spLocks/>
          </p:cNvSpPr>
          <p:nvPr/>
        </p:nvSpPr>
        <p:spPr>
          <a:xfrm rot="0">
            <a:off x="868680" y="3364992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arr.append(99)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# insertar al final   O(1) amort.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7" name="Rectángulo"/>
          <p:cNvSpPr>
            <a:spLocks/>
          </p:cNvSpPr>
          <p:nvPr/>
        </p:nvSpPr>
        <p:spPr>
          <a:xfrm rot="0">
            <a:off x="868680" y="3803903"/>
            <a:ext cx="576072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arr.insert(0, 7)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# insertar al inicio       O(n)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8" name="Rectángulo"/>
          <p:cNvSpPr>
            <a:spLocks/>
          </p:cNvSpPr>
          <p:nvPr/>
        </p:nvSpPr>
        <p:spPr>
          <a:xfrm rot="0">
            <a:off x="868680" y="4242816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del arr[2]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# eliminar en medio        O(n)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9" name="Rectángulo"/>
          <p:cNvSpPr>
            <a:spLocks/>
          </p:cNvSpPr>
          <p:nvPr/>
        </p:nvSpPr>
        <p:spPr>
          <a:xfrm rot="0">
            <a:off x="868680" y="4681728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99 in arr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# búsqueda                 O(n)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0" name="Rectángulo"/>
          <p:cNvSpPr>
            <a:spLocks/>
          </p:cNvSpPr>
          <p:nvPr/>
        </p:nvSpPr>
        <p:spPr>
          <a:xfrm rot="0">
            <a:off x="7315200" y="1920240"/>
            <a:ext cx="420623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Notas clave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1" name="Óvalo"/>
          <p:cNvSpPr>
            <a:spLocks/>
          </p:cNvSpPr>
          <p:nvPr/>
        </p:nvSpPr>
        <p:spPr>
          <a:xfrm rot="0">
            <a:off x="7315200" y="2569463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32" name="Rectángulo"/>
          <p:cNvSpPr>
            <a:spLocks/>
          </p:cNvSpPr>
          <p:nvPr/>
        </p:nvSpPr>
        <p:spPr>
          <a:xfrm rot="0">
            <a:off x="7589520" y="2441447"/>
            <a:ext cx="3931919" cy="6126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list ya es un array dinámico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3" name="Óvalo"/>
          <p:cNvSpPr>
            <a:spLocks/>
          </p:cNvSpPr>
          <p:nvPr/>
        </p:nvSpPr>
        <p:spPr>
          <a:xfrm rot="0">
            <a:off x="7315200" y="3227832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34" name="Rectángulo"/>
          <p:cNvSpPr>
            <a:spLocks/>
          </p:cNvSpPr>
          <p:nvPr/>
        </p:nvSpPr>
        <p:spPr>
          <a:xfrm rot="0">
            <a:off x="7589520" y="3099815"/>
            <a:ext cx="3931919" cy="6126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 se declara el tamaño de antemano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5" name="Óvalo"/>
          <p:cNvSpPr>
            <a:spLocks/>
          </p:cNvSpPr>
          <p:nvPr/>
        </p:nvSpPr>
        <p:spPr>
          <a:xfrm rot="0">
            <a:off x="7315200" y="3886200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36" name="Rectángulo"/>
          <p:cNvSpPr>
            <a:spLocks/>
          </p:cNvSpPr>
          <p:nvPr/>
        </p:nvSpPr>
        <p:spPr>
          <a:xfrm rot="0">
            <a:off x="7589520" y="3758184"/>
            <a:ext cx="3931919" cy="6126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Internamente reserva espacio extra (over-allocation) para que append() sea O(1) casi siempre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7" name="Óvalo"/>
          <p:cNvSpPr>
            <a:spLocks/>
          </p:cNvSpPr>
          <p:nvPr/>
        </p:nvSpPr>
        <p:spPr>
          <a:xfrm rot="0">
            <a:off x="7315200" y="4544568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38" name="Rectángulo"/>
          <p:cNvSpPr>
            <a:spLocks/>
          </p:cNvSpPr>
          <p:nvPr/>
        </p:nvSpPr>
        <p:spPr>
          <a:xfrm rot="0">
            <a:off x="7589520" y="4416552"/>
            <a:ext cx="3931919" cy="6126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insert(0, ...) y del son costosos: O(n)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9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385994"/>
      </p:ext>
    </p:extLst>
  </p:cSld>
  <p:clrMapOvr>
    <a:masterClrMapping/>
  </p:clrMapOvr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Implementando una lista propia en Python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4" name="Rectángulo"/>
          <p:cNvSpPr>
            <a:spLocks/>
          </p:cNvSpPr>
          <p:nvPr/>
        </p:nvSpPr>
        <p:spPr>
          <a:xfrm rot="0">
            <a:off x="548640" y="1737360"/>
            <a:ext cx="1088135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list ya resuelve todo esto por nosotros. Pero para entender de verdad qué hace por dentro, vamos a construir una versión simplificada: MiLista.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5" name="Óvalo"/>
          <p:cNvSpPr>
            <a:spLocks/>
          </p:cNvSpPr>
          <p:nvPr/>
        </p:nvSpPr>
        <p:spPr>
          <a:xfrm rot="0">
            <a:off x="548640" y="265176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46" name="Rectángulo"/>
          <p:cNvSpPr>
            <a:spLocks/>
          </p:cNvSpPr>
          <p:nvPr/>
        </p:nvSpPr>
        <p:spPr>
          <a:xfrm rot="0">
            <a:off x="548640" y="265176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7" name="Rectángulo"/>
          <p:cNvSpPr>
            <a:spLocks/>
          </p:cNvSpPr>
          <p:nvPr/>
        </p:nvSpPr>
        <p:spPr>
          <a:xfrm rot="0">
            <a:off x="1280160" y="2633472"/>
            <a:ext cx="9601201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 arreglo interno de tamaño fijo que simula la memoria contigua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8" name="Óvalo"/>
          <p:cNvSpPr>
            <a:spLocks/>
          </p:cNvSpPr>
          <p:nvPr/>
        </p:nvSpPr>
        <p:spPr>
          <a:xfrm rot="0">
            <a:off x="548640" y="3273552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49" name="Rectángulo"/>
          <p:cNvSpPr>
            <a:spLocks/>
          </p:cNvSpPr>
          <p:nvPr/>
        </p:nvSpPr>
        <p:spPr>
          <a:xfrm rot="0">
            <a:off x="548640" y="3273552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0" name="Rectángulo"/>
          <p:cNvSpPr>
            <a:spLocks/>
          </p:cNvSpPr>
          <p:nvPr/>
        </p:nvSpPr>
        <p:spPr>
          <a:xfrm rot="0">
            <a:off x="1280160" y="3255264"/>
            <a:ext cx="9601201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Los atributos _capacidad y _tamano, separados como vimos antes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1" name="Óvalo"/>
          <p:cNvSpPr>
            <a:spLocks/>
          </p:cNvSpPr>
          <p:nvPr/>
        </p:nvSpPr>
        <p:spPr>
          <a:xfrm rot="0">
            <a:off x="548640" y="3895344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52" name="Rectángulo"/>
          <p:cNvSpPr>
            <a:spLocks/>
          </p:cNvSpPr>
          <p:nvPr/>
        </p:nvSpPr>
        <p:spPr>
          <a:xfrm rot="0">
            <a:off x="548640" y="3895344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3" name="Rectángulo"/>
          <p:cNvSpPr>
            <a:spLocks/>
          </p:cNvSpPr>
          <p:nvPr/>
        </p:nvSpPr>
        <p:spPr>
          <a:xfrm rot="0">
            <a:off x="1280160" y="3877055"/>
            <a:ext cx="9601201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obtener(i) y buscar(valor): las operaciones de lectura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4" name="Óvalo"/>
          <p:cNvSpPr>
            <a:spLocks/>
          </p:cNvSpPr>
          <p:nvPr/>
        </p:nvSpPr>
        <p:spPr>
          <a:xfrm rot="0">
            <a:off x="548640" y="4517136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55" name="Rectángulo"/>
          <p:cNvSpPr>
            <a:spLocks/>
          </p:cNvSpPr>
          <p:nvPr/>
        </p:nvSpPr>
        <p:spPr>
          <a:xfrm rot="0">
            <a:off x="548640" y="4517136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6" name="Rectángulo"/>
          <p:cNvSpPr>
            <a:spLocks/>
          </p:cNvSpPr>
          <p:nvPr/>
        </p:nvSpPr>
        <p:spPr>
          <a:xfrm rot="0">
            <a:off x="1280160" y="4498848"/>
            <a:ext cx="9601201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insertar(valor, indice): con redimensionamiento automático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7" name="Óvalo"/>
          <p:cNvSpPr>
            <a:spLocks/>
          </p:cNvSpPr>
          <p:nvPr/>
        </p:nvSpPr>
        <p:spPr>
          <a:xfrm rot="0">
            <a:off x="548640" y="5138927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58" name="Rectángulo"/>
          <p:cNvSpPr>
            <a:spLocks/>
          </p:cNvSpPr>
          <p:nvPr/>
        </p:nvSpPr>
        <p:spPr>
          <a:xfrm rot="0">
            <a:off x="548640" y="5138927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9" name="Rectángulo"/>
          <p:cNvSpPr>
            <a:spLocks/>
          </p:cNvSpPr>
          <p:nvPr/>
        </p:nvSpPr>
        <p:spPr>
          <a:xfrm rot="0">
            <a:off x="1280160" y="5120640"/>
            <a:ext cx="9601201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eliminar(indice): con desplazamiento de elementos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0" name="Rectángulo"/>
          <p:cNvSpPr>
            <a:spLocks/>
          </p:cNvSpPr>
          <p:nvPr/>
        </p:nvSpPr>
        <p:spPr>
          <a:xfrm rot="0">
            <a:off x="548640" y="5760720"/>
            <a:ext cx="1088135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Vamos a implementar, paso a paso, lo mismo que ya vimos conceptualmente.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1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41829"/>
      </p:ext>
    </p:extLst>
  </p:cSld>
  <p:clrMapOvr>
    <a:masterClrMapping/>
  </p:clrMapOvr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MiLista: la estructura base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6" name="Rectángulo redondeado"/>
          <p:cNvSpPr>
            <a:spLocks/>
          </p:cNvSpPr>
          <p:nvPr/>
        </p:nvSpPr>
        <p:spPr>
          <a:xfrm rot="0">
            <a:off x="548640" y="1828800"/>
            <a:ext cx="6400800" cy="3931919"/>
          </a:xfrm>
          <a:prstGeom prst="roundRect">
            <a:avLst>
              <a:gd name="adj" fmla="val 1393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667" name="Rectángulo"/>
          <p:cNvSpPr>
            <a:spLocks/>
          </p:cNvSpPr>
          <p:nvPr/>
        </p:nvSpPr>
        <p:spPr>
          <a:xfrm rot="0">
            <a:off x="868680" y="2048255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class MiLista: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8" name="Rectángulo"/>
          <p:cNvSpPr>
            <a:spLocks/>
          </p:cNvSpPr>
          <p:nvPr/>
        </p:nvSpPr>
        <p:spPr>
          <a:xfrm rot="0">
            <a:off x="868680" y="2487167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def __init__(self):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9" name="Rectángulo"/>
          <p:cNvSpPr>
            <a:spLocks/>
          </p:cNvSpPr>
          <p:nvPr/>
        </p:nvSpPr>
        <p:spPr>
          <a:xfrm rot="0">
            <a:off x="868680" y="2926080"/>
            <a:ext cx="576072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self._capacidad = 4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0" name="Rectángulo"/>
          <p:cNvSpPr>
            <a:spLocks/>
          </p:cNvSpPr>
          <p:nvPr/>
        </p:nvSpPr>
        <p:spPr>
          <a:xfrm rot="0">
            <a:off x="868680" y="3364992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self._tamano = 0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1" name="Rectángulo"/>
          <p:cNvSpPr>
            <a:spLocks/>
          </p:cNvSpPr>
          <p:nvPr/>
        </p:nvSpPr>
        <p:spPr>
          <a:xfrm rot="0">
            <a:off x="868680" y="3803903"/>
            <a:ext cx="576072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self._datos = [None] * self._capacidad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2" name="Rectángulo"/>
          <p:cNvSpPr>
            <a:spLocks/>
          </p:cNvSpPr>
          <p:nvPr/>
        </p:nvSpPr>
        <p:spPr>
          <a:xfrm rot="0">
            <a:off x="868680" y="4242816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73" name="Rectángulo"/>
          <p:cNvSpPr>
            <a:spLocks/>
          </p:cNvSpPr>
          <p:nvPr/>
        </p:nvSpPr>
        <p:spPr>
          <a:xfrm rot="0">
            <a:off x="868680" y="4681728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def __len__(self):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4" name="Rectángulo"/>
          <p:cNvSpPr>
            <a:spLocks/>
          </p:cNvSpPr>
          <p:nvPr/>
        </p:nvSpPr>
        <p:spPr>
          <a:xfrm rot="0">
            <a:off x="868680" y="5120640"/>
            <a:ext cx="576072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return self._tamano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5" name="Rectángulo"/>
          <p:cNvSpPr>
            <a:spLocks/>
          </p:cNvSpPr>
          <p:nvPr/>
        </p:nvSpPr>
        <p:spPr>
          <a:xfrm rot="0">
            <a:off x="7315200" y="1920240"/>
            <a:ext cx="420623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Notas clave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6" name="Óvalo"/>
          <p:cNvSpPr>
            <a:spLocks/>
          </p:cNvSpPr>
          <p:nvPr/>
        </p:nvSpPr>
        <p:spPr>
          <a:xfrm rot="0">
            <a:off x="7315200" y="2569463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77" name="Rectángulo"/>
          <p:cNvSpPr>
            <a:spLocks/>
          </p:cNvSpPr>
          <p:nvPr/>
        </p:nvSpPr>
        <p:spPr>
          <a:xfrm rot="0">
            <a:off x="7589520" y="2441447"/>
            <a:ext cx="3931919" cy="6675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_datos es el arreglo subyacente: una lista de Python usada como bloque de tamaño fijo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8" name="Óvalo"/>
          <p:cNvSpPr>
            <a:spLocks/>
          </p:cNvSpPr>
          <p:nvPr/>
        </p:nvSpPr>
        <p:spPr>
          <a:xfrm rot="0">
            <a:off x="7315200" y="3282696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79" name="Rectángulo"/>
          <p:cNvSpPr>
            <a:spLocks/>
          </p:cNvSpPr>
          <p:nvPr/>
        </p:nvSpPr>
        <p:spPr>
          <a:xfrm rot="0">
            <a:off x="7589520" y="3154680"/>
            <a:ext cx="3931919" cy="6675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_capacidad: cuánto espacio hay reservado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0" name="Óvalo"/>
          <p:cNvSpPr>
            <a:spLocks/>
          </p:cNvSpPr>
          <p:nvPr/>
        </p:nvSpPr>
        <p:spPr>
          <a:xfrm rot="0">
            <a:off x="7315200" y="3995928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81" name="Rectángulo"/>
          <p:cNvSpPr>
            <a:spLocks/>
          </p:cNvSpPr>
          <p:nvPr/>
        </p:nvSpPr>
        <p:spPr>
          <a:xfrm rot="0">
            <a:off x="7589520" y="3867912"/>
            <a:ext cx="3931919" cy="6675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_tamano: cuántos elementos están realmente en uso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2" name="Óvalo"/>
          <p:cNvSpPr>
            <a:spLocks/>
          </p:cNvSpPr>
          <p:nvPr/>
        </p:nvSpPr>
        <p:spPr>
          <a:xfrm rot="0">
            <a:off x="7315200" y="4709160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683" name="Rectángulo"/>
          <p:cNvSpPr>
            <a:spLocks/>
          </p:cNvSpPr>
          <p:nvPr/>
        </p:nvSpPr>
        <p:spPr>
          <a:xfrm rot="0">
            <a:off x="7589520" y="4581144"/>
            <a:ext cx="3931919" cy="6675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Al crearla, todas las posiciones empiezan vacías (None)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4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78544"/>
      </p:ext>
    </p:extLst>
  </p:cSld>
  <p:clrMapOvr>
    <a:masterClrMapping/>
  </p:clrMapOvr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Operaciones de lectura: obtener() y buscar()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9" name="Rectángulo redondeado"/>
          <p:cNvSpPr>
            <a:spLocks/>
          </p:cNvSpPr>
          <p:nvPr/>
        </p:nvSpPr>
        <p:spPr>
          <a:xfrm rot="0">
            <a:off x="548640" y="1828800"/>
            <a:ext cx="6949440" cy="4480560"/>
          </a:xfrm>
          <a:prstGeom prst="roundRect">
            <a:avLst>
              <a:gd name="adj" fmla="val 1222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690" name="Rectángulo"/>
          <p:cNvSpPr>
            <a:spLocks/>
          </p:cNvSpPr>
          <p:nvPr/>
        </p:nvSpPr>
        <p:spPr>
          <a:xfrm rot="0">
            <a:off x="868680" y="2048255"/>
            <a:ext cx="6309359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def obtener(self, i):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1" name="Rectángulo"/>
          <p:cNvSpPr>
            <a:spLocks/>
          </p:cNvSpPr>
          <p:nvPr/>
        </p:nvSpPr>
        <p:spPr>
          <a:xfrm rot="0">
            <a:off x="868680" y="2450591"/>
            <a:ext cx="6309359" cy="4023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if 0 &lt;= i &lt; self._tamano: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2" name="Rectángulo"/>
          <p:cNvSpPr>
            <a:spLocks/>
          </p:cNvSpPr>
          <p:nvPr/>
        </p:nvSpPr>
        <p:spPr>
          <a:xfrm rot="0">
            <a:off x="868680" y="2852928"/>
            <a:ext cx="6309359" cy="4023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return self._datos[i]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3" name="Rectángulo"/>
          <p:cNvSpPr>
            <a:spLocks/>
          </p:cNvSpPr>
          <p:nvPr/>
        </p:nvSpPr>
        <p:spPr>
          <a:xfrm rot="0">
            <a:off x="868680" y="3255264"/>
            <a:ext cx="6309359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raise IndexError()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4" name="Rectángulo"/>
          <p:cNvSpPr>
            <a:spLocks/>
          </p:cNvSpPr>
          <p:nvPr/>
        </p:nvSpPr>
        <p:spPr>
          <a:xfrm rot="0">
            <a:off x="868680" y="3657600"/>
            <a:ext cx="6309359" cy="402336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95" name="Rectángulo"/>
          <p:cNvSpPr>
            <a:spLocks/>
          </p:cNvSpPr>
          <p:nvPr/>
        </p:nvSpPr>
        <p:spPr>
          <a:xfrm rot="0">
            <a:off x="868680" y="4059936"/>
            <a:ext cx="6309359" cy="4023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def buscar(self, valor):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6" name="Rectángulo"/>
          <p:cNvSpPr>
            <a:spLocks/>
          </p:cNvSpPr>
          <p:nvPr/>
        </p:nvSpPr>
        <p:spPr>
          <a:xfrm rot="0">
            <a:off x="868680" y="4462272"/>
            <a:ext cx="6309359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for i in range(self._tamano):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7" name="Rectángulo"/>
          <p:cNvSpPr>
            <a:spLocks/>
          </p:cNvSpPr>
          <p:nvPr/>
        </p:nvSpPr>
        <p:spPr>
          <a:xfrm rot="0">
            <a:off x="868680" y="4864608"/>
            <a:ext cx="6309359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if self._datos[i] == valor: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8" name="Rectángulo"/>
          <p:cNvSpPr>
            <a:spLocks/>
          </p:cNvSpPr>
          <p:nvPr/>
        </p:nvSpPr>
        <p:spPr>
          <a:xfrm rot="0">
            <a:off x="868680" y="5266944"/>
            <a:ext cx="6309359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    return i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9" name="Rectángulo"/>
          <p:cNvSpPr>
            <a:spLocks/>
          </p:cNvSpPr>
          <p:nvPr/>
        </p:nvSpPr>
        <p:spPr>
          <a:xfrm rot="0">
            <a:off x="868680" y="5669280"/>
            <a:ext cx="6309359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return -1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0" name="Rectángulo"/>
          <p:cNvSpPr>
            <a:spLocks/>
          </p:cNvSpPr>
          <p:nvPr/>
        </p:nvSpPr>
        <p:spPr>
          <a:xfrm rot="0">
            <a:off x="7772400" y="1920240"/>
            <a:ext cx="374903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Complejidad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1" name="Rectángulo redondeado"/>
          <p:cNvSpPr>
            <a:spLocks/>
          </p:cNvSpPr>
          <p:nvPr/>
        </p:nvSpPr>
        <p:spPr>
          <a:xfrm rot="0">
            <a:off x="7772400" y="2423160"/>
            <a:ext cx="3749039" cy="777240"/>
          </a:xfrm>
          <a:prstGeom prst="roundRect">
            <a:avLst>
              <a:gd name="adj" fmla="val 7060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702" name="Rectángulo"/>
          <p:cNvSpPr>
            <a:spLocks/>
          </p:cNvSpPr>
          <p:nvPr/>
        </p:nvSpPr>
        <p:spPr>
          <a:xfrm rot="0">
            <a:off x="8046719" y="2423160"/>
            <a:ext cx="329184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obtener(i)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O(1) — acceso directo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3" name="Rectángulo redondeado"/>
          <p:cNvSpPr>
            <a:spLocks/>
          </p:cNvSpPr>
          <p:nvPr/>
        </p:nvSpPr>
        <p:spPr>
          <a:xfrm rot="0">
            <a:off x="7772400" y="3337560"/>
            <a:ext cx="3749039" cy="777239"/>
          </a:xfrm>
          <a:prstGeom prst="roundRect">
            <a:avLst>
              <a:gd name="adj" fmla="val 7060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704" name="Rectángulo"/>
          <p:cNvSpPr>
            <a:spLocks/>
          </p:cNvSpPr>
          <p:nvPr/>
        </p:nvSpPr>
        <p:spPr>
          <a:xfrm rot="0">
            <a:off x="8046719" y="3337560"/>
            <a:ext cx="3291840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buscar(valor)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O(n) — recorre hasta encontrarlo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5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459307"/>
      </p:ext>
    </p:extLst>
  </p:cSld>
  <p:clrMapOvr>
    <a:masterClrMapping/>
  </p:clrMapOvr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Insertar: con redimensionamiento automático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0" name="Rectángulo redondeado"/>
          <p:cNvSpPr>
            <a:spLocks/>
          </p:cNvSpPr>
          <p:nvPr/>
        </p:nvSpPr>
        <p:spPr>
          <a:xfrm rot="0">
            <a:off x="548640" y="1828800"/>
            <a:ext cx="5394960" cy="3200400"/>
          </a:xfrm>
          <a:prstGeom prst="roundRect">
            <a:avLst>
              <a:gd name="adj" fmla="val 1712"/>
            </a:avLst>
          </a:prstGeom>
          <a:solidFill>
            <a:srgbClr val="2B3574"/>
          </a:solidFill>
          <a:ln w="12700" cmpd="sng" cap="flat">
            <a:noFill/>
            <a:prstDash val="solid"/>
            <a:miter/>
          </a:ln>
        </p:spPr>
      </p:sp>
      <p:sp>
        <p:nvSpPr>
          <p:cNvPr id="711" name="Rectángulo"/>
          <p:cNvSpPr>
            <a:spLocks/>
          </p:cNvSpPr>
          <p:nvPr/>
        </p:nvSpPr>
        <p:spPr>
          <a:xfrm rot="0">
            <a:off x="868680" y="2048255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def _redimensionar(self):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2" name="Rectángulo"/>
          <p:cNvSpPr>
            <a:spLocks/>
          </p:cNvSpPr>
          <p:nvPr/>
        </p:nvSpPr>
        <p:spPr>
          <a:xfrm rot="0">
            <a:off x="868680" y="2432304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nueva_cap = self._capacidad * 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3" name="Rectángulo"/>
          <p:cNvSpPr>
            <a:spLocks/>
          </p:cNvSpPr>
          <p:nvPr/>
        </p:nvSpPr>
        <p:spPr>
          <a:xfrm rot="0">
            <a:off x="868680" y="2816352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nuevos = [None] * nueva_cap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4" name="Rectángulo"/>
          <p:cNvSpPr>
            <a:spLocks/>
          </p:cNvSpPr>
          <p:nvPr/>
        </p:nvSpPr>
        <p:spPr>
          <a:xfrm rot="0">
            <a:off x="868680" y="3200400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for i in range(self._tamano):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5" name="Rectángulo"/>
          <p:cNvSpPr>
            <a:spLocks/>
          </p:cNvSpPr>
          <p:nvPr/>
        </p:nvSpPr>
        <p:spPr>
          <a:xfrm rot="0">
            <a:off x="868680" y="3584448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nuevos[i] = self._datos[i]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6" name="Rectángulo"/>
          <p:cNvSpPr>
            <a:spLocks/>
          </p:cNvSpPr>
          <p:nvPr/>
        </p:nvSpPr>
        <p:spPr>
          <a:xfrm rot="0">
            <a:off x="868680" y="3968496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self._datos = nuevos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7" name="Rectángulo"/>
          <p:cNvSpPr>
            <a:spLocks/>
          </p:cNvSpPr>
          <p:nvPr/>
        </p:nvSpPr>
        <p:spPr>
          <a:xfrm rot="0">
            <a:off x="868680" y="4352544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self._capacidad = nueva_cap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8" name="Rectángulo redondeado"/>
          <p:cNvSpPr>
            <a:spLocks/>
          </p:cNvSpPr>
          <p:nvPr/>
        </p:nvSpPr>
        <p:spPr>
          <a:xfrm rot="0">
            <a:off x="6217920" y="1828800"/>
            <a:ext cx="5394959" cy="3200400"/>
          </a:xfrm>
          <a:prstGeom prst="roundRect">
            <a:avLst>
              <a:gd name="adj" fmla="val 1712"/>
            </a:avLst>
          </a:prstGeom>
          <a:solidFill>
            <a:srgbClr val="2B3574"/>
          </a:solidFill>
          <a:ln w="12700" cmpd="sng" cap="flat">
            <a:noFill/>
            <a:prstDash val="solid"/>
            <a:miter/>
          </a:ln>
        </p:spPr>
      </p:sp>
      <p:sp>
        <p:nvSpPr>
          <p:cNvPr id="719" name="Rectángulo"/>
          <p:cNvSpPr>
            <a:spLocks/>
          </p:cNvSpPr>
          <p:nvPr/>
        </p:nvSpPr>
        <p:spPr>
          <a:xfrm rot="0">
            <a:off x="6537960" y="2048255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def insertar(self, valor, i):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0" name="Rectángulo"/>
          <p:cNvSpPr>
            <a:spLocks/>
          </p:cNvSpPr>
          <p:nvPr/>
        </p:nvSpPr>
        <p:spPr>
          <a:xfrm rot="0">
            <a:off x="6537960" y="2432304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if self._tamano == self._capacidad: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1" name="Rectángulo"/>
          <p:cNvSpPr>
            <a:spLocks/>
          </p:cNvSpPr>
          <p:nvPr/>
        </p:nvSpPr>
        <p:spPr>
          <a:xfrm rot="0">
            <a:off x="6537960" y="2816352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self._redimensionar()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2" name="Rectángulo"/>
          <p:cNvSpPr>
            <a:spLocks/>
          </p:cNvSpPr>
          <p:nvPr/>
        </p:nvSpPr>
        <p:spPr>
          <a:xfrm rot="0">
            <a:off x="6537960" y="3200400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for j in range(self._tamano, i, -1):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3" name="Rectángulo"/>
          <p:cNvSpPr>
            <a:spLocks/>
          </p:cNvSpPr>
          <p:nvPr/>
        </p:nvSpPr>
        <p:spPr>
          <a:xfrm rot="0">
            <a:off x="6537960" y="3584448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self._datos[j] = self._datos[j-1]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4" name="Rectángulo"/>
          <p:cNvSpPr>
            <a:spLocks/>
          </p:cNvSpPr>
          <p:nvPr/>
        </p:nvSpPr>
        <p:spPr>
          <a:xfrm rot="0">
            <a:off x="6537960" y="3968496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self._datos[i] = valor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5" name="Rectángulo"/>
          <p:cNvSpPr>
            <a:spLocks/>
          </p:cNvSpPr>
          <p:nvPr/>
        </p:nvSpPr>
        <p:spPr>
          <a:xfrm rot="0">
            <a:off x="6537960" y="4352544"/>
            <a:ext cx="4754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self._tamano += 1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6" name="Rectángulo"/>
          <p:cNvSpPr>
            <a:spLocks/>
          </p:cNvSpPr>
          <p:nvPr/>
        </p:nvSpPr>
        <p:spPr>
          <a:xfrm rot="0">
            <a:off x="548640" y="5257800"/>
            <a:ext cx="1106424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Primero se revisa si hay espacio; si no, se duplica la capacidad (igual que vimos antes). Luego se desplazan los elementos hacia la derecha, de atrás hacia adelante, para no sobrescribir nada.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7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823982"/>
      </p:ext>
    </p:extLst>
  </p:cSld>
  <p:clrMapOvr>
    <a:masterClrMapping/>
  </p:clrMapOvr>
</p:sld>
</file>

<file path=ppt/slides/slide3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Eliminar: con desplazamiento a la izquierda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2" name="Rectángulo redondeado"/>
          <p:cNvSpPr>
            <a:spLocks/>
          </p:cNvSpPr>
          <p:nvPr/>
        </p:nvSpPr>
        <p:spPr>
          <a:xfrm rot="0">
            <a:off x="548640" y="1828800"/>
            <a:ext cx="6949440" cy="2560320"/>
          </a:xfrm>
          <a:prstGeom prst="roundRect">
            <a:avLst>
              <a:gd name="adj" fmla="val 2143"/>
            </a:avLst>
          </a:prstGeom>
          <a:solidFill>
            <a:srgbClr val="1E2761"/>
          </a:solidFill>
          <a:ln w="12700" cmpd="sng" cap="flat">
            <a:noFill/>
            <a:prstDash val="solid"/>
            <a:miter/>
          </a:ln>
        </p:spPr>
      </p:sp>
      <p:sp>
        <p:nvSpPr>
          <p:cNvPr id="733" name="Rectángulo"/>
          <p:cNvSpPr>
            <a:spLocks/>
          </p:cNvSpPr>
          <p:nvPr/>
        </p:nvSpPr>
        <p:spPr>
          <a:xfrm rot="0">
            <a:off x="868680" y="2048255"/>
            <a:ext cx="6309359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def eliminar(self, indice):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4" name="Rectángulo"/>
          <p:cNvSpPr>
            <a:spLocks/>
          </p:cNvSpPr>
          <p:nvPr/>
        </p:nvSpPr>
        <p:spPr>
          <a:xfrm rot="0">
            <a:off x="868680" y="2487167"/>
            <a:ext cx="6309359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for i in range(indice, self._tamano - 1):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5" name="Rectángulo"/>
          <p:cNvSpPr>
            <a:spLocks/>
          </p:cNvSpPr>
          <p:nvPr/>
        </p:nvSpPr>
        <p:spPr>
          <a:xfrm rot="0">
            <a:off x="868680" y="2926080"/>
            <a:ext cx="630935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    self._datos[i] = self._datos[i + 1]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6" name="Rectángulo"/>
          <p:cNvSpPr>
            <a:spLocks/>
          </p:cNvSpPr>
          <p:nvPr/>
        </p:nvSpPr>
        <p:spPr>
          <a:xfrm rot="0">
            <a:off x="868680" y="3364992"/>
            <a:ext cx="6309359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self._datos[self._tamano - 1] = None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7" name="Rectángulo"/>
          <p:cNvSpPr>
            <a:spLocks/>
          </p:cNvSpPr>
          <p:nvPr/>
        </p:nvSpPr>
        <p:spPr>
          <a:xfrm rot="0">
            <a:off x="868680" y="3803903"/>
            <a:ext cx="630935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 self._tamano -= 1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8" name="Rectángulo"/>
          <p:cNvSpPr>
            <a:spLocks/>
          </p:cNvSpPr>
          <p:nvPr/>
        </p:nvSpPr>
        <p:spPr>
          <a:xfrm rot="0">
            <a:off x="7772400" y="1920240"/>
            <a:ext cx="374903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Notas clave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9" name="Óvalo"/>
          <p:cNvSpPr>
            <a:spLocks/>
          </p:cNvSpPr>
          <p:nvPr/>
        </p:nvSpPr>
        <p:spPr>
          <a:xfrm rot="0">
            <a:off x="7772400" y="252374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40" name="Rectángulo"/>
          <p:cNvSpPr>
            <a:spLocks/>
          </p:cNvSpPr>
          <p:nvPr/>
        </p:nvSpPr>
        <p:spPr>
          <a:xfrm rot="0">
            <a:off x="8046719" y="2395728"/>
            <a:ext cx="347472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El bucle mueve cada elemento una posición a la izquierda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1" name="Óvalo"/>
          <p:cNvSpPr>
            <a:spLocks/>
          </p:cNvSpPr>
          <p:nvPr/>
        </p:nvSpPr>
        <p:spPr>
          <a:xfrm rot="0">
            <a:off x="7772400" y="330098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42" name="Rectángulo"/>
          <p:cNvSpPr>
            <a:spLocks/>
          </p:cNvSpPr>
          <p:nvPr/>
        </p:nvSpPr>
        <p:spPr>
          <a:xfrm rot="0">
            <a:off x="8046719" y="3172968"/>
            <a:ext cx="347472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La última posición queda libre (None)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3" name="Óvalo"/>
          <p:cNvSpPr>
            <a:spLocks/>
          </p:cNvSpPr>
          <p:nvPr/>
        </p:nvSpPr>
        <p:spPr>
          <a:xfrm rot="0">
            <a:off x="7772400" y="4078224"/>
            <a:ext cx="128015" cy="128016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44" name="Rectángulo"/>
          <p:cNvSpPr>
            <a:spLocks/>
          </p:cNvSpPr>
          <p:nvPr/>
        </p:nvSpPr>
        <p:spPr>
          <a:xfrm rot="0">
            <a:off x="8046719" y="3950207"/>
            <a:ext cx="347472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_tamano se reduce en 1, aunque _capacidad no cambia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5" name="Rectángulo"/>
          <p:cNvSpPr>
            <a:spLocks/>
          </p:cNvSpPr>
          <p:nvPr/>
        </p:nvSpPr>
        <p:spPr>
          <a:xfrm rot="0">
            <a:off x="548640" y="4663440"/>
            <a:ext cx="10881359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7A7A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Complejidad: O(n) — el mismo costo que vimos en el diagrama de eliminación.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6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24329"/>
      </p:ext>
    </p:extLst>
  </p:cSld>
  <p:clrMapOvr>
    <a:masterClrMapping/>
  </p:clrMapOvr>
</p:sld>
</file>

<file path=ppt/slides/slide3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MiLista en acción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1" name="Rectángulo redondeado"/>
          <p:cNvSpPr>
            <a:spLocks/>
          </p:cNvSpPr>
          <p:nvPr/>
        </p:nvSpPr>
        <p:spPr>
          <a:xfrm rot="0">
            <a:off x="548640" y="1783080"/>
            <a:ext cx="11064240" cy="3566159"/>
          </a:xfrm>
          <a:prstGeom prst="roundRect">
            <a:avLst>
              <a:gd name="adj" fmla="val 1537"/>
            </a:avLst>
          </a:prstGeom>
          <a:solidFill>
            <a:srgbClr val="2B3574"/>
          </a:solidFill>
          <a:ln w="12700" cmpd="sng" cap="flat">
            <a:noFill/>
            <a:prstDash val="solid"/>
            <a:miter/>
          </a:ln>
        </p:spPr>
      </p:sp>
      <p:sp>
        <p:nvSpPr>
          <p:cNvPr id="752" name="Rectángulo"/>
          <p:cNvSpPr>
            <a:spLocks/>
          </p:cNvSpPr>
          <p:nvPr/>
        </p:nvSpPr>
        <p:spPr>
          <a:xfrm rot="0">
            <a:off x="868680" y="2002536"/>
            <a:ext cx="10424161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lista = MiLista()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3" name="Rectángulo"/>
          <p:cNvSpPr>
            <a:spLocks/>
          </p:cNvSpPr>
          <p:nvPr/>
        </p:nvSpPr>
        <p:spPr>
          <a:xfrm rot="0">
            <a:off x="868680" y="2404872"/>
            <a:ext cx="10424161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lista.insertar(10, 0)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4" name="Rectángulo"/>
          <p:cNvSpPr>
            <a:spLocks/>
          </p:cNvSpPr>
          <p:nvPr/>
        </p:nvSpPr>
        <p:spPr>
          <a:xfrm rot="0">
            <a:off x="868680" y="2807208"/>
            <a:ext cx="10424161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lista.insertar(20, 1)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5" name="Rectángulo"/>
          <p:cNvSpPr>
            <a:spLocks/>
          </p:cNvSpPr>
          <p:nvPr/>
        </p:nvSpPr>
        <p:spPr>
          <a:xfrm rot="0">
            <a:off x="868680" y="3209543"/>
            <a:ext cx="10424161" cy="4023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lista.insertar(15, 1)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6" name="Rectángulo"/>
          <p:cNvSpPr>
            <a:spLocks/>
          </p:cNvSpPr>
          <p:nvPr/>
        </p:nvSpPr>
        <p:spPr>
          <a:xfrm rot="0">
            <a:off x="868680" y="3611880"/>
            <a:ext cx="10424161" cy="4023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print(lista._datos)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# [10, 15, 20, None]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7" name="Rectángulo"/>
          <p:cNvSpPr>
            <a:spLocks/>
          </p:cNvSpPr>
          <p:nvPr/>
        </p:nvSpPr>
        <p:spPr>
          <a:xfrm rot="0">
            <a:off x="868680" y="4014216"/>
            <a:ext cx="10424161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print(lista.buscar(15))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# 1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8" name="Rectángulo"/>
          <p:cNvSpPr>
            <a:spLocks/>
          </p:cNvSpPr>
          <p:nvPr/>
        </p:nvSpPr>
        <p:spPr>
          <a:xfrm rot="0">
            <a:off x="868680" y="4416552"/>
            <a:ext cx="10424161" cy="4023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lista.eliminar(0)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9" name="Rectángulo"/>
          <p:cNvSpPr>
            <a:spLocks/>
          </p:cNvSpPr>
          <p:nvPr/>
        </p:nvSpPr>
        <p:spPr>
          <a:xfrm rot="0">
            <a:off x="868680" y="4818888"/>
            <a:ext cx="10424161" cy="4023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print(lista._datos)</a:t>
            </a:r>
            <a:r>
              <a:rPr lang="en-US" altLang="zh-CN" sz="1300" b="0" i="0" u="none" strike="noStrike" kern="1200" cap="none" spc="0" baseline="0">
                <a:solidFill>
                  <a:srgbClr val="CADCFC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# [15, 20, None, None]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0" name="Rectángulo"/>
          <p:cNvSpPr>
            <a:spLocks/>
          </p:cNvSpPr>
          <p:nvPr/>
        </p:nvSpPr>
        <p:spPr>
          <a:xfrm rot="0">
            <a:off x="548640" y="5577840"/>
            <a:ext cx="110642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MiLista se comporta igual que la list de Python: mismos métodos, misma complejidad — solo que ahora cada paso es visible.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1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559799"/>
      </p:ext>
    </p:extLst>
  </p:cSld>
  <p:clrMapOvr>
    <a:masterClrMapping/>
  </p:clrMapOvr>
</p:sld>
</file>

<file path=ppt/slides/slide3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Errores comunes al pensar en arrays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6" name="Rectángulo"/>
          <p:cNvSpPr>
            <a:spLocks/>
          </p:cNvSpPr>
          <p:nvPr/>
        </p:nvSpPr>
        <p:spPr>
          <a:xfrm rot="0">
            <a:off x="548640" y="1828800"/>
            <a:ext cx="45720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645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✕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7" name="Rectángulo"/>
          <p:cNvSpPr>
            <a:spLocks/>
          </p:cNvSpPr>
          <p:nvPr/>
        </p:nvSpPr>
        <p:spPr>
          <a:xfrm rot="0">
            <a:off x="1097280" y="1847088"/>
            <a:ext cx="1033272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Creer que insert(0, x) cuesta igual que append(x).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8" name="Rectángulo"/>
          <p:cNvSpPr>
            <a:spLocks/>
          </p:cNvSpPr>
          <p:nvPr/>
        </p:nvSpPr>
        <p:spPr>
          <a:xfrm rot="0">
            <a:off x="548640" y="2606040"/>
            <a:ext cx="4572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645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✕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9" name="Rectángulo"/>
          <p:cNvSpPr>
            <a:spLocks/>
          </p:cNvSpPr>
          <p:nvPr/>
        </p:nvSpPr>
        <p:spPr>
          <a:xfrm rot="0">
            <a:off x="1097280" y="2624328"/>
            <a:ext cx="1033272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Confundir el índice con la posición "humana": arr[3] es el 4.º elemento, no el 3.º.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0" name="Rectángulo"/>
          <p:cNvSpPr>
            <a:spLocks/>
          </p:cNvSpPr>
          <p:nvPr/>
        </p:nvSpPr>
        <p:spPr>
          <a:xfrm rot="0">
            <a:off x="548640" y="3383279"/>
            <a:ext cx="4572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645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✕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1" name="Rectángulo"/>
          <p:cNvSpPr>
            <a:spLocks/>
          </p:cNvSpPr>
          <p:nvPr/>
        </p:nvSpPr>
        <p:spPr>
          <a:xfrm rot="0">
            <a:off x="1097280" y="3401568"/>
            <a:ext cx="1033272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Asumir que buscar un valor (x in arr) es O(1) porque "es directo".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2" name="Rectángulo"/>
          <p:cNvSpPr>
            <a:spLocks/>
          </p:cNvSpPr>
          <p:nvPr/>
        </p:nvSpPr>
        <p:spPr>
          <a:xfrm rot="0">
            <a:off x="548640" y="4160520"/>
            <a:ext cx="4572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645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✕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3" name="Rectángulo"/>
          <p:cNvSpPr>
            <a:spLocks/>
          </p:cNvSpPr>
          <p:nvPr/>
        </p:nvSpPr>
        <p:spPr>
          <a:xfrm rot="0">
            <a:off x="1097280" y="4178808"/>
            <a:ext cx="1033272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Pensar que todo lenguaje redimensiona arrays automáticamente (en C, no es así).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4" name="Rectángulo"/>
          <p:cNvSpPr>
            <a:spLocks/>
          </p:cNvSpPr>
          <p:nvPr/>
        </p:nvSpPr>
        <p:spPr>
          <a:xfrm rot="0">
            <a:off x="548640" y="4937760"/>
            <a:ext cx="45720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D645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✕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5" name="Rectángulo"/>
          <p:cNvSpPr>
            <a:spLocks/>
          </p:cNvSpPr>
          <p:nvPr/>
        </p:nvSpPr>
        <p:spPr>
          <a:xfrm rot="0">
            <a:off x="1097280" y="4956048"/>
            <a:ext cx="1033272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Olvidar que insertar/eliminar en medio también desplaza elementos, no solo al inicio.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6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92971"/>
      </p:ext>
    </p:extLst>
  </p:cSld>
  <p:clrMapOvr>
    <a:masterClrMapping/>
  </p:clrMapOvr>
</p:sld>
</file>

<file path=ppt/slides/slide3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Preguntas de repaso general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1" name="Rectángulo redondeado"/>
          <p:cNvSpPr>
            <a:spLocks/>
          </p:cNvSpPr>
          <p:nvPr/>
        </p:nvSpPr>
        <p:spPr>
          <a:xfrm rot="0">
            <a:off x="548640" y="1920240"/>
            <a:ext cx="11064240" cy="868679"/>
          </a:xfrm>
          <a:prstGeom prst="roundRect">
            <a:avLst>
              <a:gd name="adj" fmla="val 6314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782" name="Óvalo"/>
          <p:cNvSpPr>
            <a:spLocks/>
          </p:cNvSpPr>
          <p:nvPr/>
        </p:nvSpPr>
        <p:spPr>
          <a:xfrm rot="0">
            <a:off x="822960" y="212598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83" name="Rectángulo"/>
          <p:cNvSpPr>
            <a:spLocks/>
          </p:cNvSpPr>
          <p:nvPr/>
        </p:nvSpPr>
        <p:spPr>
          <a:xfrm rot="0">
            <a:off x="822960" y="212598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4" name="Rectángulo"/>
          <p:cNvSpPr>
            <a:spLocks/>
          </p:cNvSpPr>
          <p:nvPr/>
        </p:nvSpPr>
        <p:spPr>
          <a:xfrm rot="0">
            <a:off x="1554480" y="1920240"/>
            <a:ext cx="9784080" cy="868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¿Cuál es la complejidad de acceder a arr[500] en un array de 10.000 elementos?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5" name="Rectángulo redondeado"/>
          <p:cNvSpPr>
            <a:spLocks/>
          </p:cNvSpPr>
          <p:nvPr/>
        </p:nvSpPr>
        <p:spPr>
          <a:xfrm rot="0">
            <a:off x="548640" y="2971799"/>
            <a:ext cx="11064240" cy="868680"/>
          </a:xfrm>
          <a:prstGeom prst="roundRect">
            <a:avLst>
              <a:gd name="adj" fmla="val 6314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786" name="Óvalo"/>
          <p:cNvSpPr>
            <a:spLocks/>
          </p:cNvSpPr>
          <p:nvPr/>
        </p:nvSpPr>
        <p:spPr>
          <a:xfrm rot="0">
            <a:off x="822960" y="317754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87" name="Rectángulo"/>
          <p:cNvSpPr>
            <a:spLocks/>
          </p:cNvSpPr>
          <p:nvPr/>
        </p:nvSpPr>
        <p:spPr>
          <a:xfrm rot="0">
            <a:off x="822960" y="31775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8" name="Rectángulo"/>
          <p:cNvSpPr>
            <a:spLocks/>
          </p:cNvSpPr>
          <p:nvPr/>
        </p:nvSpPr>
        <p:spPr>
          <a:xfrm rot="0">
            <a:off x="1554480" y="2971799"/>
            <a:ext cx="978408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¿Por qué insertar al inicio de un array es más costoso que insertar al final?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9" name="Rectángulo redondeado"/>
          <p:cNvSpPr>
            <a:spLocks/>
          </p:cNvSpPr>
          <p:nvPr/>
        </p:nvSpPr>
        <p:spPr>
          <a:xfrm rot="0">
            <a:off x="548640" y="4023359"/>
            <a:ext cx="11064240" cy="868680"/>
          </a:xfrm>
          <a:prstGeom prst="roundRect">
            <a:avLst>
              <a:gd name="adj" fmla="val 6314"/>
            </a:avLst>
          </a:prstGeom>
          <a:solidFill>
            <a:srgbClr val="EEF2FC"/>
          </a:solidFill>
          <a:ln w="12700" cmpd="sng" cap="flat">
            <a:noFill/>
            <a:prstDash val="solid"/>
            <a:miter/>
          </a:ln>
        </p:spPr>
      </p:sp>
      <p:sp>
        <p:nvSpPr>
          <p:cNvPr id="790" name="Óvalo"/>
          <p:cNvSpPr>
            <a:spLocks/>
          </p:cNvSpPr>
          <p:nvPr/>
        </p:nvSpPr>
        <p:spPr>
          <a:xfrm rot="0">
            <a:off x="822960" y="4229100"/>
            <a:ext cx="457200" cy="457200"/>
          </a:xfrm>
          <a:prstGeom prst="ellipse"/>
          <a:solidFill>
            <a:srgbClr val="FFC145"/>
          </a:solidFill>
          <a:ln w="12700" cmpd="sng" cap="flat">
            <a:noFill/>
            <a:prstDash val="solid"/>
            <a:miter/>
          </a:ln>
        </p:spPr>
      </p:sp>
      <p:sp>
        <p:nvSpPr>
          <p:cNvPr id="791" name="Rectángulo"/>
          <p:cNvSpPr>
            <a:spLocks/>
          </p:cNvSpPr>
          <p:nvPr/>
        </p:nvSpPr>
        <p:spPr>
          <a:xfrm rot="0">
            <a:off x="822960" y="422910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2" name="Rectángulo"/>
          <p:cNvSpPr>
            <a:spLocks/>
          </p:cNvSpPr>
          <p:nvPr/>
        </p:nvSpPr>
        <p:spPr>
          <a:xfrm rot="0">
            <a:off x="1554480" y="4023359"/>
            <a:ext cx="9784080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B2B3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¿Qué ocurre internamente cuando hacen append() y el array dinámico está lleno?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7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9AA3C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068971"/>
      </p:ext>
    </p:extLst>
  </p:cSld>
  <p:clrMapOvr>
    <a:masterClrMapping/>
  </p:clrMapOvr>
</p:sld>
</file>

<file path=ppt/slides/slide3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¿Cómo evitar mover todos los elementos?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2" name="Rectángulo"/>
          <p:cNvSpPr>
            <a:spLocks/>
          </p:cNvSpPr>
          <p:nvPr/>
        </p:nvSpPr>
        <p:spPr>
          <a:xfrm rot="0">
            <a:off x="548640" y="1737360"/>
            <a:ext cx="7315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Nodo = dato + referencia al siguiente elemento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3" name="Rectángulo"/>
          <p:cNvSpPr>
            <a:spLocks/>
          </p:cNvSpPr>
          <p:nvPr/>
        </p:nvSpPr>
        <p:spPr>
          <a:xfrm rot="0">
            <a:off x="1828800" y="2743200"/>
            <a:ext cx="1463040" cy="118872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804" name="Rectángulo"/>
          <p:cNvSpPr>
            <a:spLocks/>
          </p:cNvSpPr>
          <p:nvPr/>
        </p:nvSpPr>
        <p:spPr>
          <a:xfrm rot="0">
            <a:off x="1828800" y="2743200"/>
            <a:ext cx="1463040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5" name="Rectángulo"/>
          <p:cNvSpPr>
            <a:spLocks/>
          </p:cNvSpPr>
          <p:nvPr/>
        </p:nvSpPr>
        <p:spPr>
          <a:xfrm rot="0">
            <a:off x="3291840" y="2743200"/>
            <a:ext cx="1280159" cy="1188720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806" name="Rectángulo"/>
          <p:cNvSpPr>
            <a:spLocks/>
          </p:cNvSpPr>
          <p:nvPr/>
        </p:nvSpPr>
        <p:spPr>
          <a:xfrm rot="0">
            <a:off x="3291840" y="2743200"/>
            <a:ext cx="1280159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•→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7" name="Rectángulo"/>
          <p:cNvSpPr>
            <a:spLocks/>
          </p:cNvSpPr>
          <p:nvPr/>
        </p:nvSpPr>
        <p:spPr>
          <a:xfrm rot="0">
            <a:off x="1828800" y="4023359"/>
            <a:ext cx="14630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dato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8" name="Rectángulo"/>
          <p:cNvSpPr>
            <a:spLocks/>
          </p:cNvSpPr>
          <p:nvPr/>
        </p:nvSpPr>
        <p:spPr>
          <a:xfrm rot="0">
            <a:off x="3291840" y="4023359"/>
            <a:ext cx="128015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siguiente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9" name="Rectángulo"/>
          <p:cNvSpPr>
            <a:spLocks/>
          </p:cNvSpPr>
          <p:nvPr/>
        </p:nvSpPr>
        <p:spPr>
          <a:xfrm rot="0">
            <a:off x="5852160" y="2743200"/>
            <a:ext cx="1463040" cy="1188720"/>
          </a:xfrm>
          <a:prstGeom prst="rect"/>
          <a:solidFill>
            <a:srgbClr val="FFFFFF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810" name="Rectángulo"/>
          <p:cNvSpPr>
            <a:spLocks/>
          </p:cNvSpPr>
          <p:nvPr/>
        </p:nvSpPr>
        <p:spPr>
          <a:xfrm rot="0">
            <a:off x="5852160" y="2743200"/>
            <a:ext cx="1463040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1E276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47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1" name="Rectángulo"/>
          <p:cNvSpPr>
            <a:spLocks/>
          </p:cNvSpPr>
          <p:nvPr/>
        </p:nvSpPr>
        <p:spPr>
          <a:xfrm rot="0">
            <a:off x="7315200" y="2743200"/>
            <a:ext cx="1280159" cy="1188720"/>
          </a:xfrm>
          <a:prstGeom prst="rect"/>
          <a:solidFill>
            <a:srgbClr val="FFC145"/>
          </a:solidFill>
          <a:ln w="19050" cmpd="sng" cap="flat">
            <a:solidFill>
              <a:srgbClr val="1E2761"/>
            </a:solidFill>
            <a:prstDash val="solid"/>
            <a:round/>
          </a:ln>
        </p:spPr>
      </p:sp>
      <p:sp>
        <p:nvSpPr>
          <p:cNvPr id="812" name="Rectángulo"/>
          <p:cNvSpPr>
            <a:spLocks/>
          </p:cNvSpPr>
          <p:nvPr/>
        </p:nvSpPr>
        <p:spPr>
          <a:xfrm rot="0">
            <a:off x="7315200" y="2743200"/>
            <a:ext cx="1280159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E276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None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3" name="Rectángulo"/>
          <p:cNvSpPr>
            <a:spLocks/>
          </p:cNvSpPr>
          <p:nvPr/>
        </p:nvSpPr>
        <p:spPr>
          <a:xfrm rot="0">
            <a:off x="5852160" y="4023359"/>
            <a:ext cx="14630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dato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4" name="Rectángulo"/>
          <p:cNvSpPr>
            <a:spLocks/>
          </p:cNvSpPr>
          <p:nvPr/>
        </p:nvSpPr>
        <p:spPr>
          <a:xfrm rot="0">
            <a:off x="7315200" y="4023359"/>
            <a:ext cx="128015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siguiente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5" name="Línea recta"/>
          <p:cNvSpPr>
            <a:spLocks/>
          </p:cNvSpPr>
          <p:nvPr/>
        </p:nvSpPr>
        <p:spPr>
          <a:xfrm rot="0">
            <a:off x="4572000" y="3337560"/>
            <a:ext cx="1280159" cy="913"/>
          </a:xfrm>
          <a:prstGeom prst="line"/>
          <a:noFill/>
          <a:ln w="31750" cmpd="sng" cap="flat">
            <a:solidFill>
              <a:srgbClr val="FFC145"/>
            </a:solidFill>
            <a:prstDash val="solid"/>
            <a:round/>
            <a:tailEnd type="triangle" w="med" len="med"/>
          </a:ln>
        </p:spPr>
      </p:sp>
      <p:sp>
        <p:nvSpPr>
          <p:cNvPr id="816" name="Rectángulo"/>
          <p:cNvSpPr>
            <a:spLocks/>
          </p:cNvSpPr>
          <p:nvPr/>
        </p:nvSpPr>
        <p:spPr>
          <a:xfrm rot="0">
            <a:off x="548640" y="4846320"/>
            <a:ext cx="10515600" cy="1371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Cada nodo apunta al siguiente. Ya no dependemos de posiciones contiguas en memoria: insertar o eliminar ya no exige desplazar todo lo demás.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Esto es exactamente lo que veremos en la próxima clase: Listas Enlazadas.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7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283157"/>
      </p:ext>
    </p:extLst>
  </p:cSld>
  <p:clrMapOvr>
    <a:masterClrMapping/>
  </p:clrMapOvr>
</p:sld>
</file>

<file path=ppt/slides/slide3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Rectángulo"/>
          <p:cNvSpPr>
            <a:spLocks/>
          </p:cNvSpPr>
          <p:nvPr/>
        </p:nvSpPr>
        <p:spPr>
          <a:xfrm rot="0">
            <a:off x="548640" y="548640"/>
            <a:ext cx="109728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Resumen y tarea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2" name="Rectángulo"/>
          <p:cNvSpPr>
            <a:spLocks/>
          </p:cNvSpPr>
          <p:nvPr/>
        </p:nvSpPr>
        <p:spPr>
          <a:xfrm rot="0">
            <a:off x="548640" y="1691639"/>
            <a:ext cx="521208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Ideas clave de hoy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3" name="Rectángulo"/>
          <p:cNvSpPr>
            <a:spLocks/>
          </p:cNvSpPr>
          <p:nvPr/>
        </p:nvSpPr>
        <p:spPr>
          <a:xfrm rot="0">
            <a:off x="548640" y="2148840"/>
            <a:ext cx="54864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 Array: memoria contigua + acceso por índice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4" name="Rectángulo"/>
          <p:cNvSpPr>
            <a:spLocks/>
          </p:cNvSpPr>
          <p:nvPr/>
        </p:nvSpPr>
        <p:spPr>
          <a:xfrm rot="0">
            <a:off x="548640" y="2651760"/>
            <a:ext cx="54864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 dirección(i) = base + i × tamaño → por eso O(1)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5" name="Rectángulo"/>
          <p:cNvSpPr>
            <a:spLocks/>
          </p:cNvSpPr>
          <p:nvPr/>
        </p:nvSpPr>
        <p:spPr>
          <a:xfrm rot="0">
            <a:off x="548640" y="3154680"/>
            <a:ext cx="54864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 Estático: tamaño fijo, sin término medio (desperdicio o desborde)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6" name="Rectángulo"/>
          <p:cNvSpPr>
            <a:spLocks/>
          </p:cNvSpPr>
          <p:nvPr/>
        </p:nvSpPr>
        <p:spPr>
          <a:xfrm rot="0">
            <a:off x="548640" y="3657600"/>
            <a:ext cx="54864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 Dinámico: distingue capacidad de tamaño, y duplica al crecer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7" name="Rectángulo"/>
          <p:cNvSpPr>
            <a:spLocks/>
          </p:cNvSpPr>
          <p:nvPr/>
        </p:nvSpPr>
        <p:spPr>
          <a:xfrm rot="0">
            <a:off x="548640" y="4160520"/>
            <a:ext cx="54864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 Acceso O(1), pero insertar/eliminar puede ser O(n)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0" name="Rectángulo"/>
          <p:cNvSpPr>
            <a:spLocks/>
          </p:cNvSpPr>
          <p:nvPr/>
        </p:nvSpPr>
        <p:spPr>
          <a:xfrm rot="0">
            <a:off x="548640" y="6492240"/>
            <a:ext cx="7315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Estructuras de Datos — Semana 6 · Arrays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82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